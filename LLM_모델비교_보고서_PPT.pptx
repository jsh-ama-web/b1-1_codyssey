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2729"/>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97FF"/>
          </a:solidFill>
          <a:ln w="12700">
            <a:solidFill>
              <a:srgbClr val="2997FF"/>
            </a:solidFill>
            <a:prstDash val="solid"/>
          </a:ln>
        </p:spPr>
      </p:sp>
      <p:sp>
        <p:nvSpPr>
          <p:cNvPr id="3" name="Shape 1"/>
          <p:cNvSpPr/>
          <p:nvPr/>
        </p:nvSpPr>
        <p:spPr>
          <a:xfrm>
            <a:off x="502920" y="329184"/>
            <a:ext cx="1645920" cy="292608"/>
          </a:xfrm>
          <a:prstGeom prst="roundRect">
            <a:avLst>
              <a:gd name="adj" fmla="val 55000"/>
            </a:avLst>
          </a:prstGeom>
          <a:solidFill>
            <a:srgbClr val="2997FF"/>
          </a:solidFill>
          <a:ln w="12700">
            <a:solidFill>
              <a:srgbClr val="2997FF"/>
            </a:solidFill>
            <a:prstDash val="solid"/>
          </a:ln>
        </p:spPr>
      </p:sp>
      <p:sp>
        <p:nvSpPr>
          <p:cNvPr id="4" name="Text 2"/>
          <p:cNvSpPr/>
          <p:nvPr/>
        </p:nvSpPr>
        <p:spPr>
          <a:xfrm>
            <a:off x="502920" y="329184"/>
            <a:ext cx="1645920" cy="292608"/>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REPORT · 2026</a:t>
            </a:r>
            <a:endParaRPr lang="en-US" sz="1000" dirty="0"/>
          </a:p>
        </p:txBody>
      </p:sp>
      <p:sp>
        <p:nvSpPr>
          <p:cNvPr id="5" name="Text 3"/>
          <p:cNvSpPr/>
          <p:nvPr/>
        </p:nvSpPr>
        <p:spPr>
          <a:xfrm>
            <a:off x="502920" y="841248"/>
            <a:ext cx="8229600" cy="2743200"/>
          </a:xfrm>
          <a:prstGeom prst="rect">
            <a:avLst/>
          </a:prstGeom>
          <a:noFill/>
          <a:ln/>
        </p:spPr>
        <p:txBody>
          <a:bodyPr wrap="square" lIns="0" tIns="0" rIns="0" bIns="0" rtlCol="0" anchor="ctr"/>
          <a:lstStyle/>
          <a:p>
            <a:pPr algn="l" indent="0" marL="0">
              <a:lnSpc>
                <a:spcPct val="107000"/>
              </a:lnSpc>
              <a:buNone/>
            </a:pPr>
            <a:r>
              <a:rPr lang="en-US" sz="5800" spc="-80" kern="0" dirty="0">
                <a:solidFill>
                  <a:srgbClr val="FFFFFF"/>
                </a:solidFill>
                <a:latin typeface="Pretendard ExtraBold" pitchFamily="34" charset="0"/>
                <a:ea typeface="Pretendard ExtraBold" pitchFamily="34" charset="-122"/>
                <a:cs typeface="Pretendard ExtraBold" pitchFamily="34" charset="-120"/>
              </a:rPr>
              <a:t>LLM 모델</a:t>
            </a:r>
            <a:endParaRPr lang="en-US" sz="5800" dirty="0"/>
          </a:p>
          <a:p>
            <a:pPr algn="l" indent="0" marL="0">
              <a:lnSpc>
                <a:spcPct val="107000"/>
              </a:lnSpc>
              <a:buNone/>
            </a:pPr>
            <a:r>
              <a:rPr lang="en-US" sz="5800" spc="-80" kern="0" dirty="0">
                <a:solidFill>
                  <a:srgbClr val="FFFFFF"/>
                </a:solidFill>
                <a:latin typeface="Pretendard ExtraBold" pitchFamily="34" charset="0"/>
                <a:ea typeface="Pretendard ExtraBold" pitchFamily="34" charset="-122"/>
                <a:cs typeface="Pretendard ExtraBold" pitchFamily="34" charset="-120"/>
              </a:rPr>
              <a:t>비교·선정 보고서</a:t>
            </a:r>
            <a:endParaRPr lang="en-US" sz="5800" dirty="0"/>
          </a:p>
        </p:txBody>
      </p:sp>
      <p:sp>
        <p:nvSpPr>
          <p:cNvPr id="6" name="Text 4"/>
          <p:cNvSpPr/>
          <p:nvPr/>
        </p:nvSpPr>
        <p:spPr>
          <a:xfrm>
            <a:off x="502920" y="3767328"/>
            <a:ext cx="8686800" cy="731520"/>
          </a:xfrm>
          <a:prstGeom prst="rect">
            <a:avLst/>
          </a:prstGeom>
          <a:noFill/>
          <a:ln/>
        </p:spPr>
        <p:txBody>
          <a:bodyPr wrap="square" lIns="0" tIns="0" rIns="0" bIns="0" rtlCol="0" anchor="ctr"/>
          <a:lstStyle/>
          <a:p>
            <a:pPr algn="l" indent="0" marL="0">
              <a:lnSpc>
                <a:spcPct val="155000"/>
              </a:lnSpc>
              <a:buNone/>
            </a:pPr>
            <a:r>
              <a:rPr lang="en-US" sz="1600" dirty="0">
                <a:solidFill>
                  <a:srgbClr val="CCCCCC"/>
                </a:solidFill>
                <a:latin typeface="Pretendard Regular" pitchFamily="34" charset="0"/>
                <a:ea typeface="Pretendard Regular" pitchFamily="34" charset="-122"/>
                <a:cs typeface="Pretendard Regular" pitchFamily="34" charset="-120"/>
              </a:rPr>
              <a:t>Gemini 3.1 Pro · GPT-5.5 · Claude Opus 4.8</a:t>
            </a:r>
            <a:endParaRPr lang="en-US" sz="1600" dirty="0"/>
          </a:p>
          <a:p>
            <a:pPr algn="l" indent="0" marL="0">
              <a:lnSpc>
                <a:spcPct val="155000"/>
              </a:lnSpc>
              <a:buNone/>
            </a:pPr>
            <a:r>
              <a:rPr lang="en-US" sz="1600" dirty="0">
                <a:solidFill>
                  <a:srgbClr val="CCCCCC"/>
                </a:solidFill>
                <a:latin typeface="Pretendard Regular" pitchFamily="34" charset="0"/>
                <a:ea typeface="Pretendard Regular" pitchFamily="34" charset="-122"/>
                <a:cs typeface="Pretendard Regular" pitchFamily="34" charset="-120"/>
              </a:rPr>
              <a:t>업무 자동화(이메일 작성) 적합성 평가</a:t>
            </a:r>
            <a:endParaRPr lang="en-US" sz="1600" dirty="0"/>
          </a:p>
        </p:txBody>
      </p:sp>
      <p:sp>
        <p:nvSpPr>
          <p:cNvPr id="7" name="Shape 5"/>
          <p:cNvSpPr/>
          <p:nvPr/>
        </p:nvSpPr>
        <p:spPr>
          <a:xfrm>
            <a:off x="502920" y="4663440"/>
            <a:ext cx="2926080" cy="0"/>
          </a:xfrm>
          <a:prstGeom prst="line">
            <a:avLst/>
          </a:prstGeom>
          <a:noFill/>
          <a:ln w="25400">
            <a:solidFill>
              <a:srgbClr val="2997FF"/>
            </a:solidFill>
            <a:prstDash val="solid"/>
          </a:ln>
        </p:spPr>
      </p:sp>
      <p:sp>
        <p:nvSpPr>
          <p:cNvPr id="8" name="Text 6"/>
          <p:cNvSpPr/>
          <p:nvPr/>
        </p:nvSpPr>
        <p:spPr>
          <a:xfrm>
            <a:off x="502920" y="4828032"/>
            <a:ext cx="3657600" cy="310896"/>
          </a:xfrm>
          <a:prstGeom prst="rect">
            <a:avLst/>
          </a:prstGeom>
          <a:noFill/>
          <a:ln/>
        </p:spPr>
        <p:txBody>
          <a:bodyPr wrap="square" lIns="0" tIns="0" rIns="0" bIns="0" rtlCol="0" anchor="ctr"/>
          <a:lstStyle/>
          <a:p>
            <a:pPr algn="l" indent="0" marL="0">
              <a:buNone/>
            </a:pPr>
            <a:r>
              <a:rPr lang="en-US" sz="1400" dirty="0">
                <a:solidFill>
                  <a:srgbClr val="FFFFFF"/>
                </a:solidFill>
                <a:latin typeface="Pretendard SemiBold" pitchFamily="34" charset="0"/>
                <a:ea typeface="Pretendard SemiBold" pitchFamily="34" charset="-122"/>
                <a:cs typeface="Pretendard SemiBold" pitchFamily="34" charset="-120"/>
              </a:rPr>
              <a:t>정세현</a:t>
            </a:r>
            <a:endParaRPr lang="en-US" sz="1400" dirty="0"/>
          </a:p>
        </p:txBody>
      </p:sp>
      <p:sp>
        <p:nvSpPr>
          <p:cNvPr id="9" name="Shape 7"/>
          <p:cNvSpPr/>
          <p:nvPr/>
        </p:nvSpPr>
        <p:spPr>
          <a:xfrm>
            <a:off x="9189720" y="1417320"/>
            <a:ext cx="2697480" cy="1115568"/>
          </a:xfrm>
          <a:prstGeom prst="rect">
            <a:avLst/>
          </a:prstGeom>
          <a:solidFill>
            <a:srgbClr val="2A2A2C"/>
          </a:solidFill>
          <a:ln w="12700">
            <a:solidFill>
              <a:srgbClr val="3A3A3C"/>
            </a:solidFill>
            <a:prstDash val="solid"/>
          </a:ln>
        </p:spPr>
      </p:sp>
      <p:sp>
        <p:nvSpPr>
          <p:cNvPr id="10" name="Shape 8"/>
          <p:cNvSpPr/>
          <p:nvPr/>
        </p:nvSpPr>
        <p:spPr>
          <a:xfrm>
            <a:off x="9189720" y="1417320"/>
            <a:ext cx="54864" cy="1115568"/>
          </a:xfrm>
          <a:prstGeom prst="rect">
            <a:avLst/>
          </a:prstGeom>
          <a:solidFill>
            <a:srgbClr val="4285F4"/>
          </a:solidFill>
          <a:ln w="12700">
            <a:solidFill>
              <a:srgbClr val="4285F4"/>
            </a:solidFill>
            <a:prstDash val="solid"/>
          </a:ln>
        </p:spPr>
      </p:sp>
      <p:sp>
        <p:nvSpPr>
          <p:cNvPr id="11" name="Text 9"/>
          <p:cNvSpPr/>
          <p:nvPr/>
        </p:nvSpPr>
        <p:spPr>
          <a:xfrm>
            <a:off x="9326880" y="1527048"/>
            <a:ext cx="2423160"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Google</a:t>
            </a:r>
            <a:endParaRPr lang="en-US" sz="1000" dirty="0"/>
          </a:p>
        </p:txBody>
      </p:sp>
      <p:sp>
        <p:nvSpPr>
          <p:cNvPr id="12" name="Text 10"/>
          <p:cNvSpPr/>
          <p:nvPr/>
        </p:nvSpPr>
        <p:spPr>
          <a:xfrm>
            <a:off x="9326880" y="1801368"/>
            <a:ext cx="2423160" cy="402336"/>
          </a:xfrm>
          <a:prstGeom prst="rect">
            <a:avLst/>
          </a:prstGeom>
          <a:noFill/>
          <a:ln/>
        </p:spPr>
        <p:txBody>
          <a:bodyPr wrap="square" lIns="0" tIns="0" rIns="0" bIns="0" rtlCol="0" anchor="ctr"/>
          <a:lstStyle/>
          <a:p>
            <a:pPr algn="l" indent="0" marL="0">
              <a:buNone/>
            </a:pPr>
            <a:r>
              <a:rPr lang="en-US" sz="1500" dirty="0">
                <a:solidFill>
                  <a:srgbClr val="FFFFFF"/>
                </a:solidFill>
                <a:latin typeface="Pretendard SemiBold" pitchFamily="34" charset="0"/>
                <a:ea typeface="Pretendard SemiBold" pitchFamily="34" charset="-122"/>
                <a:cs typeface="Pretendard SemiBold" pitchFamily="34" charset="-120"/>
              </a:rPr>
              <a:t>Gemini 3.1 Pro</a:t>
            </a:r>
            <a:endParaRPr lang="en-US" sz="1500" dirty="0"/>
          </a:p>
        </p:txBody>
      </p:sp>
      <p:sp>
        <p:nvSpPr>
          <p:cNvPr id="13" name="Shape 11"/>
          <p:cNvSpPr/>
          <p:nvPr/>
        </p:nvSpPr>
        <p:spPr>
          <a:xfrm>
            <a:off x="9189720" y="2752344"/>
            <a:ext cx="2697480" cy="1115568"/>
          </a:xfrm>
          <a:prstGeom prst="rect">
            <a:avLst/>
          </a:prstGeom>
          <a:solidFill>
            <a:srgbClr val="2A2A2C"/>
          </a:solidFill>
          <a:ln w="12700">
            <a:solidFill>
              <a:srgbClr val="3A3A3C"/>
            </a:solidFill>
            <a:prstDash val="solid"/>
          </a:ln>
        </p:spPr>
      </p:sp>
      <p:sp>
        <p:nvSpPr>
          <p:cNvPr id="14" name="Shape 12"/>
          <p:cNvSpPr/>
          <p:nvPr/>
        </p:nvSpPr>
        <p:spPr>
          <a:xfrm>
            <a:off x="9189720" y="2752344"/>
            <a:ext cx="54864" cy="1115568"/>
          </a:xfrm>
          <a:prstGeom prst="rect">
            <a:avLst/>
          </a:prstGeom>
          <a:solidFill>
            <a:srgbClr val="10A37F"/>
          </a:solidFill>
          <a:ln w="12700">
            <a:solidFill>
              <a:srgbClr val="10A37F"/>
            </a:solidFill>
            <a:prstDash val="solid"/>
          </a:ln>
        </p:spPr>
      </p:sp>
      <p:sp>
        <p:nvSpPr>
          <p:cNvPr id="15" name="Text 13"/>
          <p:cNvSpPr/>
          <p:nvPr/>
        </p:nvSpPr>
        <p:spPr>
          <a:xfrm>
            <a:off x="9326880" y="2862072"/>
            <a:ext cx="2423160"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OpenAI</a:t>
            </a:r>
            <a:endParaRPr lang="en-US" sz="1000" dirty="0"/>
          </a:p>
        </p:txBody>
      </p:sp>
      <p:sp>
        <p:nvSpPr>
          <p:cNvPr id="16" name="Text 14"/>
          <p:cNvSpPr/>
          <p:nvPr/>
        </p:nvSpPr>
        <p:spPr>
          <a:xfrm>
            <a:off x="9326880" y="3136392"/>
            <a:ext cx="2423160" cy="402336"/>
          </a:xfrm>
          <a:prstGeom prst="rect">
            <a:avLst/>
          </a:prstGeom>
          <a:noFill/>
          <a:ln/>
        </p:spPr>
        <p:txBody>
          <a:bodyPr wrap="square" lIns="0" tIns="0" rIns="0" bIns="0" rtlCol="0" anchor="ctr"/>
          <a:lstStyle/>
          <a:p>
            <a:pPr algn="l" indent="0" marL="0">
              <a:buNone/>
            </a:pPr>
            <a:r>
              <a:rPr lang="en-US" sz="1500" dirty="0">
                <a:solidFill>
                  <a:srgbClr val="FFFFFF"/>
                </a:solidFill>
                <a:latin typeface="Pretendard SemiBold" pitchFamily="34" charset="0"/>
                <a:ea typeface="Pretendard SemiBold" pitchFamily="34" charset="-122"/>
                <a:cs typeface="Pretendard SemiBold" pitchFamily="34" charset="-120"/>
              </a:rPr>
              <a:t>GPT-5.5</a:t>
            </a:r>
            <a:endParaRPr lang="en-US" sz="1500" dirty="0"/>
          </a:p>
        </p:txBody>
      </p:sp>
      <p:sp>
        <p:nvSpPr>
          <p:cNvPr id="17" name="Shape 15"/>
          <p:cNvSpPr/>
          <p:nvPr/>
        </p:nvSpPr>
        <p:spPr>
          <a:xfrm>
            <a:off x="9189720" y="4087368"/>
            <a:ext cx="2697480" cy="1115568"/>
          </a:xfrm>
          <a:prstGeom prst="rect">
            <a:avLst/>
          </a:prstGeom>
          <a:solidFill>
            <a:srgbClr val="2A2A2C"/>
          </a:solidFill>
          <a:ln w="12700">
            <a:solidFill>
              <a:srgbClr val="3A3A3C"/>
            </a:solidFill>
            <a:prstDash val="solid"/>
          </a:ln>
        </p:spPr>
      </p:sp>
      <p:sp>
        <p:nvSpPr>
          <p:cNvPr id="18" name="Shape 16"/>
          <p:cNvSpPr/>
          <p:nvPr/>
        </p:nvSpPr>
        <p:spPr>
          <a:xfrm>
            <a:off x="9189720" y="4087368"/>
            <a:ext cx="54864" cy="1115568"/>
          </a:xfrm>
          <a:prstGeom prst="rect">
            <a:avLst/>
          </a:prstGeom>
          <a:solidFill>
            <a:srgbClr val="CF7A5E"/>
          </a:solidFill>
          <a:ln w="12700">
            <a:solidFill>
              <a:srgbClr val="CF7A5E"/>
            </a:solidFill>
            <a:prstDash val="solid"/>
          </a:ln>
        </p:spPr>
      </p:sp>
      <p:sp>
        <p:nvSpPr>
          <p:cNvPr id="19" name="Text 17"/>
          <p:cNvSpPr/>
          <p:nvPr/>
        </p:nvSpPr>
        <p:spPr>
          <a:xfrm>
            <a:off x="9326880" y="4197096"/>
            <a:ext cx="2423160"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Anthropic</a:t>
            </a:r>
            <a:endParaRPr lang="en-US" sz="1000" dirty="0"/>
          </a:p>
        </p:txBody>
      </p:sp>
      <p:sp>
        <p:nvSpPr>
          <p:cNvPr id="20" name="Text 18"/>
          <p:cNvSpPr/>
          <p:nvPr/>
        </p:nvSpPr>
        <p:spPr>
          <a:xfrm>
            <a:off x="9326880" y="4471416"/>
            <a:ext cx="2423160" cy="402336"/>
          </a:xfrm>
          <a:prstGeom prst="rect">
            <a:avLst/>
          </a:prstGeom>
          <a:noFill/>
          <a:ln/>
        </p:spPr>
        <p:txBody>
          <a:bodyPr wrap="square" lIns="0" tIns="0" rIns="0" bIns="0" rtlCol="0" anchor="ctr"/>
          <a:lstStyle/>
          <a:p>
            <a:pPr algn="l" indent="0" marL="0">
              <a:buNone/>
            </a:pPr>
            <a:r>
              <a:rPr lang="en-US" sz="1500" dirty="0">
                <a:solidFill>
                  <a:srgbClr val="FFFFFF"/>
                </a:solidFill>
                <a:latin typeface="Pretendard SemiBold" pitchFamily="34" charset="0"/>
                <a:ea typeface="Pretendard SemiBold" pitchFamily="34" charset="-122"/>
                <a:cs typeface="Pretendard SemiBold" pitchFamily="34" charset="-120"/>
              </a:rPr>
              <a:t>Claude Opus 4.8</a:t>
            </a:r>
            <a:endParaRPr lang="en-US" sz="1500" dirty="0"/>
          </a:p>
        </p:txBody>
      </p:sp>
      <p:sp>
        <p:nvSpPr>
          <p:cNvPr id="21" name="Shape 19"/>
          <p:cNvSpPr/>
          <p:nvPr/>
        </p:nvSpPr>
        <p:spPr>
          <a:xfrm>
            <a:off x="0" y="6400800"/>
            <a:ext cx="12188952" cy="457200"/>
          </a:xfrm>
          <a:prstGeom prst="rect">
            <a:avLst/>
          </a:prstGeom>
          <a:solidFill>
            <a:srgbClr val="1D1D1F"/>
          </a:solidFill>
          <a:ln w="12700">
            <a:solidFill>
              <a:srgbClr val="1D1D1F"/>
            </a:solidFill>
            <a:prstDash val="solid"/>
          </a:ln>
        </p:spPr>
      </p:sp>
      <p:sp>
        <p:nvSpPr>
          <p:cNvPr id="22" name="Text 20"/>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이메일 작성 과업 기준 3종 LLM · API 환경 · 가중순위결정법 적용</a:t>
            </a:r>
            <a:endParaRPr lang="en-US" sz="1100" dirty="0"/>
          </a:p>
        </p:txBody>
      </p:sp>
      <p:sp>
        <p:nvSpPr>
          <p:cNvPr id="23" name="Text 21"/>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I. 개요</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1D1D1F"/>
                </a:solidFill>
                <a:latin typeface="Pretendard Bold" pitchFamily="34" charset="0"/>
                <a:ea typeface="Pretendard Bold" pitchFamily="34" charset="-122"/>
                <a:cs typeface="Pretendard Bold" pitchFamily="34" charset="-120"/>
              </a:rPr>
              <a:t>배경 및 목적</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6B7280"/>
                </a:solidFill>
                <a:latin typeface="Pretendard Regular" pitchFamily="34" charset="0"/>
                <a:ea typeface="Pretendard Regular" pitchFamily="34" charset="-122"/>
                <a:cs typeface="Pretendard Regular" pitchFamily="34" charset="-120"/>
              </a:rPr>
              <a:t>단순 반복 업무의 피로 해소와 생산성 향상을 위한 LLM 도입 가능성 검증</a:t>
            </a:r>
            <a:endParaRPr lang="en-US" sz="1500" dirty="0"/>
          </a:p>
        </p:txBody>
      </p:sp>
      <p:sp>
        <p:nvSpPr>
          <p:cNvPr id="5" name="Shape 3"/>
          <p:cNvSpPr/>
          <p:nvPr/>
        </p:nvSpPr>
        <p:spPr>
          <a:xfrm>
            <a:off x="502920" y="1353312"/>
            <a:ext cx="11183112" cy="0"/>
          </a:xfrm>
          <a:prstGeom prst="line">
            <a:avLst/>
          </a:prstGeom>
          <a:noFill/>
          <a:ln w="12700">
            <a:solidFill>
              <a:srgbClr val="E0E0E0"/>
            </a:solidFill>
            <a:prstDash val="solid"/>
          </a:ln>
        </p:spPr>
      </p:sp>
      <p:sp>
        <p:nvSpPr>
          <p:cNvPr id="6" name="Text 4"/>
          <p:cNvSpPr/>
          <p:nvPr/>
        </p:nvSpPr>
        <p:spPr>
          <a:xfrm>
            <a:off x="502920" y="1536192"/>
            <a:ext cx="11183112" cy="731520"/>
          </a:xfrm>
          <a:prstGeom prst="rect">
            <a:avLst/>
          </a:prstGeom>
          <a:noFill/>
          <a:ln/>
        </p:spPr>
        <p:txBody>
          <a:bodyPr wrap="square" lIns="0" tIns="0" rIns="0" bIns="0" rtlCol="0" anchor="ctr"/>
          <a:lstStyle/>
          <a:p>
            <a:pPr algn="l" indent="0" marL="0">
              <a:lnSpc>
                <a:spcPct val="165000"/>
              </a:lnSpc>
              <a:buNone/>
            </a:pPr>
            <a:r>
              <a:rPr lang="en-US" sz="1400" dirty="0">
                <a:solidFill>
                  <a:srgbClr val="1D1D1F"/>
                </a:solidFill>
                <a:latin typeface="Pretendard Regular" pitchFamily="34" charset="0"/>
                <a:ea typeface="Pretendard Regular" pitchFamily="34" charset="-122"/>
                <a:cs typeface="Pretendard Regular" pitchFamily="34" charset="-120"/>
              </a:rPr>
              <a:t>데이터 입력, 정형 보고서 작성, 이메일 회신 등 단순 반복 업무는 업무 집중도를 저하시키는 주요 원인입니다. 본 테스트는 이러한 업무를 자동화할 수 있는 주요 LLM 3종을 대상으로, 주어진 가이드라인 준수 여부와 비용 효율성을 종합 평가합니다.</a:t>
            </a:r>
            <a:endParaRPr lang="en-US" sz="1400" dirty="0"/>
          </a:p>
        </p:txBody>
      </p:sp>
      <p:sp>
        <p:nvSpPr>
          <p:cNvPr id="7" name="Shape 5"/>
          <p:cNvSpPr/>
          <p:nvPr/>
        </p:nvSpPr>
        <p:spPr>
          <a:xfrm>
            <a:off x="502920" y="2423160"/>
            <a:ext cx="3456432" cy="2148840"/>
          </a:xfrm>
          <a:prstGeom prst="rect">
            <a:avLst/>
          </a:prstGeom>
          <a:solidFill>
            <a:srgbClr val="F5F5F7"/>
          </a:solidFill>
          <a:ln w="12700">
            <a:solidFill>
              <a:srgbClr val="E0E0E0"/>
            </a:solidFill>
            <a:prstDash val="solid"/>
          </a:ln>
        </p:spPr>
      </p:sp>
      <p:sp>
        <p:nvSpPr>
          <p:cNvPr id="8" name="Shape 6"/>
          <p:cNvSpPr/>
          <p:nvPr/>
        </p:nvSpPr>
        <p:spPr>
          <a:xfrm>
            <a:off x="502920" y="2423160"/>
            <a:ext cx="3456432" cy="54864"/>
          </a:xfrm>
          <a:prstGeom prst="rect">
            <a:avLst/>
          </a:prstGeom>
          <a:solidFill>
            <a:srgbClr val="4285F4"/>
          </a:solidFill>
          <a:ln w="12700">
            <a:solidFill>
              <a:srgbClr val="4285F4"/>
            </a:solidFill>
            <a:prstDash val="solid"/>
          </a:ln>
        </p:spPr>
      </p:sp>
      <p:sp>
        <p:nvSpPr>
          <p:cNvPr id="9" name="Text 7"/>
          <p:cNvSpPr/>
          <p:nvPr/>
        </p:nvSpPr>
        <p:spPr>
          <a:xfrm>
            <a:off x="704088" y="2606040"/>
            <a:ext cx="3054096"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평가 대상</a:t>
            </a:r>
            <a:endParaRPr lang="en-US" sz="1100" dirty="0"/>
          </a:p>
        </p:txBody>
      </p:sp>
      <p:sp>
        <p:nvSpPr>
          <p:cNvPr id="10" name="Text 8"/>
          <p:cNvSpPr/>
          <p:nvPr/>
        </p:nvSpPr>
        <p:spPr>
          <a:xfrm>
            <a:off x="704088" y="2862072"/>
            <a:ext cx="3054096" cy="749808"/>
          </a:xfrm>
          <a:prstGeom prst="rect">
            <a:avLst/>
          </a:prstGeom>
          <a:noFill/>
          <a:ln/>
        </p:spPr>
        <p:txBody>
          <a:bodyPr wrap="square" lIns="0" tIns="0" rIns="0" bIns="0" rtlCol="0" anchor="ctr"/>
          <a:lstStyle/>
          <a:p>
            <a:pPr algn="l" indent="0" marL="0">
              <a:buNone/>
            </a:pPr>
            <a:r>
              <a:rPr lang="en-US" sz="4200" dirty="0">
                <a:solidFill>
                  <a:srgbClr val="4285F4"/>
                </a:solidFill>
                <a:latin typeface="Pretendard ExtraBold" pitchFamily="34" charset="0"/>
                <a:ea typeface="Pretendard ExtraBold" pitchFamily="34" charset="-122"/>
                <a:cs typeface="Pretendard ExtraBold" pitchFamily="34" charset="-120"/>
              </a:rPr>
              <a:t>3종 LLM</a:t>
            </a:r>
            <a:endParaRPr lang="en-US" sz="4200" dirty="0"/>
          </a:p>
        </p:txBody>
      </p:sp>
      <p:sp>
        <p:nvSpPr>
          <p:cNvPr id="11" name="Shape 9"/>
          <p:cNvSpPr/>
          <p:nvPr/>
        </p:nvSpPr>
        <p:spPr>
          <a:xfrm>
            <a:off x="704088" y="3666744"/>
            <a:ext cx="3054096" cy="0"/>
          </a:xfrm>
          <a:prstGeom prst="line">
            <a:avLst/>
          </a:prstGeom>
          <a:noFill/>
          <a:ln w="12700">
            <a:solidFill>
              <a:srgbClr val="E0E0E0"/>
            </a:solidFill>
            <a:prstDash val="solid"/>
          </a:ln>
        </p:spPr>
      </p:sp>
      <p:sp>
        <p:nvSpPr>
          <p:cNvPr id="12" name="Text 10"/>
          <p:cNvSpPr/>
          <p:nvPr/>
        </p:nvSpPr>
        <p:spPr>
          <a:xfrm>
            <a:off x="704088" y="3758184"/>
            <a:ext cx="3054096" cy="640080"/>
          </a:xfrm>
          <a:prstGeom prst="rect">
            <a:avLst/>
          </a:prstGeom>
          <a:noFill/>
          <a:ln/>
        </p:spPr>
        <p:txBody>
          <a:bodyPr wrap="square" lIns="0" tIns="0" rIns="0" bIns="0" rtlCol="0" anchor="ctr"/>
          <a:lstStyle/>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Gemini 3.1 Pro</a:t>
            </a:r>
            <a:endParaRPr lang="en-US" sz="1200" dirty="0"/>
          </a:p>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GPT-5.5 · Claude Opus 4.8</a:t>
            </a:r>
            <a:endParaRPr lang="en-US" sz="1200" dirty="0"/>
          </a:p>
        </p:txBody>
      </p:sp>
      <p:sp>
        <p:nvSpPr>
          <p:cNvPr id="13" name="Shape 11"/>
          <p:cNvSpPr/>
          <p:nvPr/>
        </p:nvSpPr>
        <p:spPr>
          <a:xfrm>
            <a:off x="4123944" y="2423160"/>
            <a:ext cx="3456432" cy="2148840"/>
          </a:xfrm>
          <a:prstGeom prst="rect">
            <a:avLst/>
          </a:prstGeom>
          <a:solidFill>
            <a:srgbClr val="F5F5F7"/>
          </a:solidFill>
          <a:ln w="12700">
            <a:solidFill>
              <a:srgbClr val="E0E0E0"/>
            </a:solidFill>
            <a:prstDash val="solid"/>
          </a:ln>
        </p:spPr>
      </p:sp>
      <p:sp>
        <p:nvSpPr>
          <p:cNvPr id="14" name="Shape 12"/>
          <p:cNvSpPr/>
          <p:nvPr/>
        </p:nvSpPr>
        <p:spPr>
          <a:xfrm>
            <a:off x="4123944" y="2423160"/>
            <a:ext cx="3456432" cy="54864"/>
          </a:xfrm>
          <a:prstGeom prst="rect">
            <a:avLst/>
          </a:prstGeom>
          <a:solidFill>
            <a:srgbClr val="10A37F"/>
          </a:solidFill>
          <a:ln w="12700">
            <a:solidFill>
              <a:srgbClr val="10A37F"/>
            </a:solidFill>
            <a:prstDash val="solid"/>
          </a:ln>
        </p:spPr>
      </p:sp>
      <p:sp>
        <p:nvSpPr>
          <p:cNvPr id="15" name="Text 13"/>
          <p:cNvSpPr/>
          <p:nvPr/>
        </p:nvSpPr>
        <p:spPr>
          <a:xfrm>
            <a:off x="4325112" y="2606040"/>
            <a:ext cx="3054096"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테스트 환경</a:t>
            </a:r>
            <a:endParaRPr lang="en-US" sz="1100" dirty="0"/>
          </a:p>
        </p:txBody>
      </p:sp>
      <p:sp>
        <p:nvSpPr>
          <p:cNvPr id="16" name="Text 14"/>
          <p:cNvSpPr/>
          <p:nvPr/>
        </p:nvSpPr>
        <p:spPr>
          <a:xfrm>
            <a:off x="4325112" y="2862072"/>
            <a:ext cx="3054096" cy="749808"/>
          </a:xfrm>
          <a:prstGeom prst="rect">
            <a:avLst/>
          </a:prstGeom>
          <a:noFill/>
          <a:ln/>
        </p:spPr>
        <p:txBody>
          <a:bodyPr wrap="square" lIns="0" tIns="0" rIns="0" bIns="0" rtlCol="0" anchor="ctr"/>
          <a:lstStyle/>
          <a:p>
            <a:pPr algn="l" indent="0" marL="0">
              <a:buNone/>
            </a:pPr>
            <a:r>
              <a:rPr lang="en-US" sz="4200" dirty="0">
                <a:solidFill>
                  <a:srgbClr val="10A37F"/>
                </a:solidFill>
                <a:latin typeface="Pretendard ExtraBold" pitchFamily="34" charset="0"/>
                <a:ea typeface="Pretendard ExtraBold" pitchFamily="34" charset="-122"/>
                <a:cs typeface="Pretendard ExtraBold" pitchFamily="34" charset="-120"/>
              </a:rPr>
              <a:t>API</a:t>
            </a:r>
            <a:endParaRPr lang="en-US" sz="4200" dirty="0"/>
          </a:p>
        </p:txBody>
      </p:sp>
      <p:sp>
        <p:nvSpPr>
          <p:cNvPr id="17" name="Shape 15"/>
          <p:cNvSpPr/>
          <p:nvPr/>
        </p:nvSpPr>
        <p:spPr>
          <a:xfrm>
            <a:off x="4325112" y="3666744"/>
            <a:ext cx="3054096" cy="0"/>
          </a:xfrm>
          <a:prstGeom prst="line">
            <a:avLst/>
          </a:prstGeom>
          <a:noFill/>
          <a:ln w="12700">
            <a:solidFill>
              <a:srgbClr val="E0E0E0"/>
            </a:solidFill>
            <a:prstDash val="solid"/>
          </a:ln>
        </p:spPr>
      </p:sp>
      <p:sp>
        <p:nvSpPr>
          <p:cNvPr id="18" name="Text 16"/>
          <p:cNvSpPr/>
          <p:nvPr/>
        </p:nvSpPr>
        <p:spPr>
          <a:xfrm>
            <a:off x="4325112" y="3758184"/>
            <a:ext cx="3054096" cy="640080"/>
          </a:xfrm>
          <a:prstGeom prst="rect">
            <a:avLst/>
          </a:prstGeom>
          <a:noFill/>
          <a:ln/>
        </p:spPr>
        <p:txBody>
          <a:bodyPr wrap="square" lIns="0" tIns="0" rIns="0" bIns="0" rtlCol="0" anchor="ctr"/>
          <a:lstStyle/>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2026 최신 버전 기준</a:t>
            </a:r>
            <a:endParaRPr lang="en-US" sz="1200" dirty="0"/>
          </a:p>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동일 프롬프트 동일 환경</a:t>
            </a:r>
            <a:endParaRPr lang="en-US" sz="1200" dirty="0"/>
          </a:p>
        </p:txBody>
      </p:sp>
      <p:sp>
        <p:nvSpPr>
          <p:cNvPr id="19" name="Shape 17"/>
          <p:cNvSpPr/>
          <p:nvPr/>
        </p:nvSpPr>
        <p:spPr>
          <a:xfrm>
            <a:off x="7744968" y="2423160"/>
            <a:ext cx="3456432" cy="2148840"/>
          </a:xfrm>
          <a:prstGeom prst="rect">
            <a:avLst/>
          </a:prstGeom>
          <a:solidFill>
            <a:srgbClr val="F5F5F7"/>
          </a:solidFill>
          <a:ln w="12700">
            <a:solidFill>
              <a:srgbClr val="E0E0E0"/>
            </a:solidFill>
            <a:prstDash val="solid"/>
          </a:ln>
        </p:spPr>
      </p:sp>
      <p:sp>
        <p:nvSpPr>
          <p:cNvPr id="20" name="Shape 18"/>
          <p:cNvSpPr/>
          <p:nvPr/>
        </p:nvSpPr>
        <p:spPr>
          <a:xfrm>
            <a:off x="7744968" y="2423160"/>
            <a:ext cx="3456432" cy="54864"/>
          </a:xfrm>
          <a:prstGeom prst="rect">
            <a:avLst/>
          </a:prstGeom>
          <a:solidFill>
            <a:srgbClr val="0066CC"/>
          </a:solidFill>
          <a:ln w="12700">
            <a:solidFill>
              <a:srgbClr val="0066CC"/>
            </a:solidFill>
            <a:prstDash val="solid"/>
          </a:ln>
        </p:spPr>
      </p:sp>
      <p:sp>
        <p:nvSpPr>
          <p:cNvPr id="21" name="Text 19"/>
          <p:cNvSpPr/>
          <p:nvPr/>
        </p:nvSpPr>
        <p:spPr>
          <a:xfrm>
            <a:off x="7946136" y="2606040"/>
            <a:ext cx="3054096"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평가 과업</a:t>
            </a:r>
            <a:endParaRPr lang="en-US" sz="1100" dirty="0"/>
          </a:p>
        </p:txBody>
      </p:sp>
      <p:sp>
        <p:nvSpPr>
          <p:cNvPr id="22" name="Text 20"/>
          <p:cNvSpPr/>
          <p:nvPr/>
        </p:nvSpPr>
        <p:spPr>
          <a:xfrm>
            <a:off x="7946136" y="2862072"/>
            <a:ext cx="3054096" cy="749808"/>
          </a:xfrm>
          <a:prstGeom prst="rect">
            <a:avLst/>
          </a:prstGeom>
          <a:noFill/>
          <a:ln/>
        </p:spPr>
        <p:txBody>
          <a:bodyPr wrap="square" lIns="0" tIns="0" rIns="0" bIns="0" rtlCol="0" anchor="ctr"/>
          <a:lstStyle/>
          <a:p>
            <a:pPr algn="l" indent="0" marL="0">
              <a:buNone/>
            </a:pPr>
            <a:r>
              <a:rPr lang="en-US" sz="4200" dirty="0">
                <a:solidFill>
                  <a:srgbClr val="0066CC"/>
                </a:solidFill>
                <a:latin typeface="Pretendard ExtraBold" pitchFamily="34" charset="0"/>
                <a:ea typeface="Pretendard ExtraBold" pitchFamily="34" charset="-122"/>
                <a:cs typeface="Pretendard ExtraBold" pitchFamily="34" charset="-120"/>
              </a:rPr>
              <a:t>이메일</a:t>
            </a:r>
            <a:endParaRPr lang="en-US" sz="4200" dirty="0"/>
          </a:p>
        </p:txBody>
      </p:sp>
      <p:sp>
        <p:nvSpPr>
          <p:cNvPr id="23" name="Shape 21"/>
          <p:cNvSpPr/>
          <p:nvPr/>
        </p:nvSpPr>
        <p:spPr>
          <a:xfrm>
            <a:off x="7946136" y="3666744"/>
            <a:ext cx="3054096" cy="0"/>
          </a:xfrm>
          <a:prstGeom prst="line">
            <a:avLst/>
          </a:prstGeom>
          <a:noFill/>
          <a:ln w="12700">
            <a:solidFill>
              <a:srgbClr val="E0E0E0"/>
            </a:solidFill>
            <a:prstDash val="solid"/>
          </a:ln>
        </p:spPr>
      </p:sp>
      <p:sp>
        <p:nvSpPr>
          <p:cNvPr id="24" name="Text 22"/>
          <p:cNvSpPr/>
          <p:nvPr/>
        </p:nvSpPr>
        <p:spPr>
          <a:xfrm>
            <a:off x="7946136" y="3758184"/>
            <a:ext cx="3054096" cy="640080"/>
          </a:xfrm>
          <a:prstGeom prst="rect">
            <a:avLst/>
          </a:prstGeom>
          <a:noFill/>
          <a:ln/>
        </p:spPr>
        <p:txBody>
          <a:bodyPr wrap="square" lIns="0" tIns="0" rIns="0" bIns="0" rtlCol="0" anchor="ctr"/>
          <a:lstStyle/>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교수님 대상 성적 관련</a:t>
            </a:r>
            <a:endParaRPr lang="en-US" sz="1200" dirty="0"/>
          </a:p>
          <a:p>
            <a:pPr algn="l" indent="0" marL="0">
              <a:lnSpc>
                <a:spcPct val="150000"/>
              </a:lnSpc>
              <a:buNone/>
            </a:pPr>
            <a:r>
              <a:rPr lang="en-US" sz="1200" dirty="0">
                <a:solidFill>
                  <a:srgbClr val="6B7280"/>
                </a:solidFill>
                <a:latin typeface="Pretendard Regular" pitchFamily="34" charset="0"/>
                <a:ea typeface="Pretendard Regular" pitchFamily="34" charset="-122"/>
                <a:cs typeface="Pretendard Regular" pitchFamily="34" charset="-120"/>
              </a:rPr>
              <a:t>메일 작성 시나리오</a:t>
            </a:r>
            <a:endParaRPr lang="en-US" sz="1200" dirty="0"/>
          </a:p>
        </p:txBody>
      </p:sp>
      <p:sp>
        <p:nvSpPr>
          <p:cNvPr id="25" name="Shape 23"/>
          <p:cNvSpPr/>
          <p:nvPr/>
        </p:nvSpPr>
        <p:spPr>
          <a:xfrm>
            <a:off x="502920" y="4736592"/>
            <a:ext cx="11183112" cy="594360"/>
          </a:xfrm>
          <a:prstGeom prst="rect">
            <a:avLst/>
          </a:prstGeom>
          <a:solidFill>
            <a:srgbClr val="EBF3FF"/>
          </a:solidFill>
          <a:ln w="12700">
            <a:solidFill>
              <a:srgbClr val="BDD7F5"/>
            </a:solidFill>
            <a:prstDash val="solid"/>
          </a:ln>
        </p:spPr>
      </p:sp>
      <p:sp>
        <p:nvSpPr>
          <p:cNvPr id="26" name="Text 24"/>
          <p:cNvSpPr/>
          <p:nvPr/>
        </p:nvSpPr>
        <p:spPr>
          <a:xfrm>
            <a:off x="731520" y="4736592"/>
            <a:ext cx="10972800" cy="594360"/>
          </a:xfrm>
          <a:prstGeom prst="rect">
            <a:avLst/>
          </a:prstGeom>
          <a:noFill/>
          <a:ln/>
        </p:spPr>
        <p:txBody>
          <a:bodyPr wrap="square" lIns="0" tIns="0" rIns="0" bIns="0" rtlCol="0" anchor="ctr"/>
          <a:lstStyle/>
          <a:p>
            <a:pPr algn="l" indent="0" marL="0">
              <a:buNone/>
            </a:pPr>
            <a:r>
              <a:rPr lang="en-US" sz="1300" dirty="0">
                <a:solidFill>
                  <a:srgbClr val="0066CC"/>
                </a:solidFill>
                <a:latin typeface="Pretendard SemiBold" pitchFamily="34" charset="0"/>
                <a:ea typeface="Pretendard SemiBold" pitchFamily="34" charset="-122"/>
                <a:cs typeface="Pretendard SemiBold" pitchFamily="34" charset="-120"/>
              </a:rPr>
              <a:t>핵심 질문  ·  어떤 LLM이 이메일 업무를 가장 정확하고 비용 효율적으로 처리하는가?</a:t>
            </a:r>
            <a:endParaRPr lang="en-US" sz="1300" dirty="0"/>
          </a:p>
        </p:txBody>
      </p:sp>
      <p:sp>
        <p:nvSpPr>
          <p:cNvPr id="27" name="Shape 25"/>
          <p:cNvSpPr/>
          <p:nvPr/>
        </p:nvSpPr>
        <p:spPr>
          <a:xfrm>
            <a:off x="0" y="6400800"/>
            <a:ext cx="12188952" cy="457200"/>
          </a:xfrm>
          <a:prstGeom prst="rect">
            <a:avLst/>
          </a:prstGeom>
          <a:solidFill>
            <a:srgbClr val="1D1D1F"/>
          </a:solidFill>
          <a:ln w="12700">
            <a:solidFill>
              <a:srgbClr val="1D1D1F"/>
            </a:solidFill>
            <a:prstDash val="solid"/>
          </a:ln>
        </p:spPr>
      </p:sp>
      <p:sp>
        <p:nvSpPr>
          <p:cNvPr id="28" name="Text 26"/>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Source: 코디세이 내부 테스트 보고서 · 정세현 (2026)</a:t>
            </a:r>
            <a:endParaRPr lang="en-US" sz="1100" dirty="0"/>
          </a:p>
        </p:txBody>
      </p:sp>
      <p:sp>
        <p:nvSpPr>
          <p:cNvPr id="29" name="Text 27"/>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II. 테스트 환경</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FFFFFF"/>
                </a:solidFill>
                <a:latin typeface="Pretendard Bold" pitchFamily="34" charset="0"/>
                <a:ea typeface="Pretendard Bold" pitchFamily="34" charset="-122"/>
                <a:cs typeface="Pretendard Bold" pitchFamily="34" charset="-120"/>
              </a:rPr>
              <a:t>평가 대상 3종 LLM</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CCCCCC"/>
                </a:solidFill>
                <a:latin typeface="Pretendard Regular" pitchFamily="34" charset="0"/>
                <a:ea typeface="Pretendard Regular" pitchFamily="34" charset="-122"/>
                <a:cs typeface="Pretendard Regular" pitchFamily="34" charset="-120"/>
              </a:rPr>
              <a:t>2026 최신 버전 · API 환경 · 동일 프롬프트 적용</a:t>
            </a:r>
            <a:endParaRPr lang="en-US" sz="1500" dirty="0"/>
          </a:p>
        </p:txBody>
      </p:sp>
      <p:sp>
        <p:nvSpPr>
          <p:cNvPr id="5" name="Shape 3"/>
          <p:cNvSpPr/>
          <p:nvPr/>
        </p:nvSpPr>
        <p:spPr>
          <a:xfrm>
            <a:off x="502920" y="1353312"/>
            <a:ext cx="11183112" cy="0"/>
          </a:xfrm>
          <a:prstGeom prst="line">
            <a:avLst/>
          </a:prstGeom>
          <a:noFill/>
          <a:ln w="12700">
            <a:solidFill>
              <a:srgbClr val="3A3A3C"/>
            </a:solidFill>
            <a:prstDash val="solid"/>
          </a:ln>
        </p:spPr>
      </p:sp>
      <p:sp>
        <p:nvSpPr>
          <p:cNvPr id="6" name="Shape 4"/>
          <p:cNvSpPr/>
          <p:nvPr/>
        </p:nvSpPr>
        <p:spPr>
          <a:xfrm>
            <a:off x="502920" y="1536192"/>
            <a:ext cx="3456432" cy="4526280"/>
          </a:xfrm>
          <a:prstGeom prst="rect">
            <a:avLst/>
          </a:prstGeom>
          <a:solidFill>
            <a:srgbClr val="2A2A2C"/>
          </a:solidFill>
          <a:ln w="12700">
            <a:solidFill>
              <a:srgbClr val="3A3A3C"/>
            </a:solidFill>
            <a:prstDash val="solid"/>
          </a:ln>
        </p:spPr>
      </p:sp>
      <p:sp>
        <p:nvSpPr>
          <p:cNvPr id="7" name="Shape 5"/>
          <p:cNvSpPr/>
          <p:nvPr/>
        </p:nvSpPr>
        <p:spPr>
          <a:xfrm>
            <a:off x="502920" y="1536192"/>
            <a:ext cx="3456432" cy="54864"/>
          </a:xfrm>
          <a:prstGeom prst="rect">
            <a:avLst/>
          </a:prstGeom>
          <a:solidFill>
            <a:srgbClr val="4285F4"/>
          </a:solidFill>
          <a:ln w="12700">
            <a:solidFill>
              <a:srgbClr val="4285F4"/>
            </a:solidFill>
            <a:prstDash val="solid"/>
          </a:ln>
        </p:spPr>
      </p:sp>
      <p:sp>
        <p:nvSpPr>
          <p:cNvPr id="8" name="Text 6"/>
          <p:cNvSpPr/>
          <p:nvPr/>
        </p:nvSpPr>
        <p:spPr>
          <a:xfrm>
            <a:off x="704088" y="1700784"/>
            <a:ext cx="3054096"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Google</a:t>
            </a:r>
            <a:endParaRPr lang="en-US" sz="1000" dirty="0"/>
          </a:p>
        </p:txBody>
      </p:sp>
      <p:sp>
        <p:nvSpPr>
          <p:cNvPr id="9" name="Text 7"/>
          <p:cNvSpPr/>
          <p:nvPr/>
        </p:nvSpPr>
        <p:spPr>
          <a:xfrm>
            <a:off x="704088" y="1947672"/>
            <a:ext cx="3054096" cy="457200"/>
          </a:xfrm>
          <a:prstGeom prst="rect">
            <a:avLst/>
          </a:prstGeom>
          <a:noFill/>
          <a:ln/>
        </p:spPr>
        <p:txBody>
          <a:bodyPr wrap="square" lIns="0" tIns="0" rIns="0" bIns="0" rtlCol="0" anchor="ctr"/>
          <a:lstStyle/>
          <a:p>
            <a:pPr algn="l" indent="0" marL="0">
              <a:buNone/>
            </a:pPr>
            <a:r>
              <a:rPr lang="en-US" sz="2000" dirty="0">
                <a:solidFill>
                  <a:srgbClr val="FFFFFF"/>
                </a:solidFill>
                <a:latin typeface="Pretendard ExtraBold" pitchFamily="34" charset="0"/>
                <a:ea typeface="Pretendard ExtraBold" pitchFamily="34" charset="-122"/>
                <a:cs typeface="Pretendard ExtraBold" pitchFamily="34" charset="-120"/>
              </a:rPr>
              <a:t>Gemini 3.1 Pro</a:t>
            </a:r>
            <a:endParaRPr lang="en-US" sz="2000" dirty="0"/>
          </a:p>
        </p:txBody>
      </p:sp>
      <p:sp>
        <p:nvSpPr>
          <p:cNvPr id="10" name="Shape 8"/>
          <p:cNvSpPr/>
          <p:nvPr/>
        </p:nvSpPr>
        <p:spPr>
          <a:xfrm>
            <a:off x="704088" y="2468880"/>
            <a:ext cx="3054096" cy="0"/>
          </a:xfrm>
          <a:prstGeom prst="line">
            <a:avLst/>
          </a:prstGeom>
          <a:noFill/>
          <a:ln w="12700">
            <a:solidFill>
              <a:srgbClr val="3A3A3C"/>
            </a:solidFill>
            <a:prstDash val="solid"/>
          </a:ln>
        </p:spPr>
      </p:sp>
      <p:sp>
        <p:nvSpPr>
          <p:cNvPr id="11" name="Shape 9"/>
          <p:cNvSpPr/>
          <p:nvPr/>
        </p:nvSpPr>
        <p:spPr>
          <a:xfrm>
            <a:off x="704088" y="2724912"/>
            <a:ext cx="91440" cy="91440"/>
          </a:xfrm>
          <a:prstGeom prst="ellipse">
            <a:avLst/>
          </a:prstGeom>
          <a:solidFill>
            <a:srgbClr val="4285F4"/>
          </a:solidFill>
          <a:ln w="12700">
            <a:solidFill>
              <a:srgbClr val="4285F4"/>
            </a:solidFill>
            <a:prstDash val="solid"/>
          </a:ln>
        </p:spPr>
      </p:sp>
      <p:sp>
        <p:nvSpPr>
          <p:cNvPr id="12" name="Text 10"/>
          <p:cNvSpPr/>
          <p:nvPr/>
        </p:nvSpPr>
        <p:spPr>
          <a:xfrm>
            <a:off x="868680" y="2633472"/>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텍스트·오디오·비디오·대용량 PDF</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분석 능력이 동급 모델 중 최정교</a:t>
            </a:r>
            <a:endParaRPr lang="en-US" sz="1200" dirty="0"/>
          </a:p>
        </p:txBody>
      </p:sp>
      <p:sp>
        <p:nvSpPr>
          <p:cNvPr id="13" name="Shape 11"/>
          <p:cNvSpPr/>
          <p:nvPr/>
        </p:nvSpPr>
        <p:spPr>
          <a:xfrm>
            <a:off x="704088" y="3803904"/>
            <a:ext cx="91440" cy="91440"/>
          </a:xfrm>
          <a:prstGeom prst="ellipse">
            <a:avLst/>
          </a:prstGeom>
          <a:solidFill>
            <a:srgbClr val="4285F4"/>
          </a:solidFill>
          <a:ln w="12700">
            <a:solidFill>
              <a:srgbClr val="4285F4"/>
            </a:solidFill>
            <a:prstDash val="solid"/>
          </a:ln>
        </p:spPr>
      </p:sp>
      <p:sp>
        <p:nvSpPr>
          <p:cNvPr id="14" name="Text 12"/>
          <p:cNvSpPr/>
          <p:nvPr/>
        </p:nvSpPr>
        <p:spPr>
          <a:xfrm>
            <a:off x="868680" y="3712464"/>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토큰 가성비 탁월 —</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API 기준 중간 수준 비용</a:t>
            </a:r>
            <a:endParaRPr lang="en-US" sz="1200" dirty="0"/>
          </a:p>
        </p:txBody>
      </p:sp>
      <p:sp>
        <p:nvSpPr>
          <p:cNvPr id="15" name="Shape 13"/>
          <p:cNvSpPr/>
          <p:nvPr/>
        </p:nvSpPr>
        <p:spPr>
          <a:xfrm>
            <a:off x="704088" y="4882896"/>
            <a:ext cx="91440" cy="91440"/>
          </a:xfrm>
          <a:prstGeom prst="ellipse">
            <a:avLst/>
          </a:prstGeom>
          <a:solidFill>
            <a:srgbClr val="4285F4"/>
          </a:solidFill>
          <a:ln w="12700">
            <a:solidFill>
              <a:srgbClr val="4285F4"/>
            </a:solidFill>
            <a:prstDash val="solid"/>
          </a:ln>
        </p:spPr>
      </p:sp>
      <p:sp>
        <p:nvSpPr>
          <p:cNvPr id="16" name="Text 14"/>
          <p:cNvSpPr/>
          <p:nvPr/>
        </p:nvSpPr>
        <p:spPr>
          <a:xfrm>
            <a:off x="868680" y="4791456"/>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상황 파악 및 초안 완성도 우수</a:t>
            </a:r>
            <a:endParaRPr lang="en-US" sz="1200" dirty="0"/>
          </a:p>
        </p:txBody>
      </p:sp>
      <p:sp>
        <p:nvSpPr>
          <p:cNvPr id="17" name="Shape 15"/>
          <p:cNvSpPr/>
          <p:nvPr/>
        </p:nvSpPr>
        <p:spPr>
          <a:xfrm>
            <a:off x="4142232" y="1536192"/>
            <a:ext cx="3456432" cy="4526280"/>
          </a:xfrm>
          <a:prstGeom prst="rect">
            <a:avLst/>
          </a:prstGeom>
          <a:solidFill>
            <a:srgbClr val="2A2A2C"/>
          </a:solidFill>
          <a:ln w="12700">
            <a:solidFill>
              <a:srgbClr val="3A3A3C"/>
            </a:solidFill>
            <a:prstDash val="solid"/>
          </a:ln>
        </p:spPr>
      </p:sp>
      <p:sp>
        <p:nvSpPr>
          <p:cNvPr id="18" name="Shape 16"/>
          <p:cNvSpPr/>
          <p:nvPr/>
        </p:nvSpPr>
        <p:spPr>
          <a:xfrm>
            <a:off x="4142232" y="1536192"/>
            <a:ext cx="3456432" cy="54864"/>
          </a:xfrm>
          <a:prstGeom prst="rect">
            <a:avLst/>
          </a:prstGeom>
          <a:solidFill>
            <a:srgbClr val="10A37F"/>
          </a:solidFill>
          <a:ln w="12700">
            <a:solidFill>
              <a:srgbClr val="10A37F"/>
            </a:solidFill>
            <a:prstDash val="solid"/>
          </a:ln>
        </p:spPr>
      </p:sp>
      <p:sp>
        <p:nvSpPr>
          <p:cNvPr id="19" name="Text 17"/>
          <p:cNvSpPr/>
          <p:nvPr/>
        </p:nvSpPr>
        <p:spPr>
          <a:xfrm>
            <a:off x="4343400" y="1700784"/>
            <a:ext cx="3054096"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OpenAI</a:t>
            </a:r>
            <a:endParaRPr lang="en-US" sz="1000" dirty="0"/>
          </a:p>
        </p:txBody>
      </p:sp>
      <p:sp>
        <p:nvSpPr>
          <p:cNvPr id="20" name="Text 18"/>
          <p:cNvSpPr/>
          <p:nvPr/>
        </p:nvSpPr>
        <p:spPr>
          <a:xfrm>
            <a:off x="4343400" y="1947672"/>
            <a:ext cx="3054096" cy="457200"/>
          </a:xfrm>
          <a:prstGeom prst="rect">
            <a:avLst/>
          </a:prstGeom>
          <a:noFill/>
          <a:ln/>
        </p:spPr>
        <p:txBody>
          <a:bodyPr wrap="square" lIns="0" tIns="0" rIns="0" bIns="0" rtlCol="0" anchor="ctr"/>
          <a:lstStyle/>
          <a:p>
            <a:pPr algn="l" indent="0" marL="0">
              <a:buNone/>
            </a:pPr>
            <a:r>
              <a:rPr lang="en-US" sz="2000" dirty="0">
                <a:solidFill>
                  <a:srgbClr val="FFFFFF"/>
                </a:solidFill>
                <a:latin typeface="Pretendard ExtraBold" pitchFamily="34" charset="0"/>
                <a:ea typeface="Pretendard ExtraBold" pitchFamily="34" charset="-122"/>
                <a:cs typeface="Pretendard ExtraBold" pitchFamily="34" charset="-120"/>
              </a:rPr>
              <a:t>GPT-5.5</a:t>
            </a:r>
            <a:endParaRPr lang="en-US" sz="2000" dirty="0"/>
          </a:p>
        </p:txBody>
      </p:sp>
      <p:sp>
        <p:nvSpPr>
          <p:cNvPr id="21" name="Shape 19"/>
          <p:cNvSpPr/>
          <p:nvPr/>
        </p:nvSpPr>
        <p:spPr>
          <a:xfrm>
            <a:off x="4343400" y="2468880"/>
            <a:ext cx="3054096" cy="0"/>
          </a:xfrm>
          <a:prstGeom prst="line">
            <a:avLst/>
          </a:prstGeom>
          <a:noFill/>
          <a:ln w="12700">
            <a:solidFill>
              <a:srgbClr val="3A3A3C"/>
            </a:solidFill>
            <a:prstDash val="solid"/>
          </a:ln>
        </p:spPr>
      </p:sp>
      <p:sp>
        <p:nvSpPr>
          <p:cNvPr id="22" name="Shape 20"/>
          <p:cNvSpPr/>
          <p:nvPr/>
        </p:nvSpPr>
        <p:spPr>
          <a:xfrm>
            <a:off x="4343400" y="2724912"/>
            <a:ext cx="91440" cy="91440"/>
          </a:xfrm>
          <a:prstGeom prst="ellipse">
            <a:avLst/>
          </a:prstGeom>
          <a:solidFill>
            <a:srgbClr val="10A37F"/>
          </a:solidFill>
          <a:ln w="12700">
            <a:solidFill>
              <a:srgbClr val="10A37F"/>
            </a:solidFill>
            <a:prstDash val="solid"/>
          </a:ln>
        </p:spPr>
      </p:sp>
      <p:sp>
        <p:nvSpPr>
          <p:cNvPr id="23" name="Text 21"/>
          <p:cNvSpPr/>
          <p:nvPr/>
        </p:nvSpPr>
        <p:spPr>
          <a:xfrm>
            <a:off x="4507992" y="2633472"/>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업무 자동화 과업 수행 시</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Self-correction 능력 탁월</a:t>
            </a:r>
            <a:endParaRPr lang="en-US" sz="1200" dirty="0"/>
          </a:p>
        </p:txBody>
      </p:sp>
      <p:sp>
        <p:nvSpPr>
          <p:cNvPr id="24" name="Shape 22"/>
          <p:cNvSpPr/>
          <p:nvPr/>
        </p:nvSpPr>
        <p:spPr>
          <a:xfrm>
            <a:off x="4343400" y="3803904"/>
            <a:ext cx="91440" cy="91440"/>
          </a:xfrm>
          <a:prstGeom prst="ellipse">
            <a:avLst/>
          </a:prstGeom>
          <a:solidFill>
            <a:srgbClr val="10A37F"/>
          </a:solidFill>
          <a:ln w="12700">
            <a:solidFill>
              <a:srgbClr val="10A37F"/>
            </a:solidFill>
            <a:prstDash val="solid"/>
          </a:ln>
        </p:spPr>
      </p:sp>
      <p:sp>
        <p:nvSpPr>
          <p:cNvPr id="25" name="Text 23"/>
          <p:cNvSpPr/>
          <p:nvPr/>
        </p:nvSpPr>
        <p:spPr>
          <a:xfrm>
            <a:off x="4507992" y="3712464"/>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오류 발생 시 대체 도구 탐색 후</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작업을 자동 완수</a:t>
            </a:r>
            <a:endParaRPr lang="en-US" sz="1200" dirty="0"/>
          </a:p>
        </p:txBody>
      </p:sp>
      <p:sp>
        <p:nvSpPr>
          <p:cNvPr id="26" name="Shape 24"/>
          <p:cNvSpPr/>
          <p:nvPr/>
        </p:nvSpPr>
        <p:spPr>
          <a:xfrm>
            <a:off x="4343400" y="4882896"/>
            <a:ext cx="91440" cy="91440"/>
          </a:xfrm>
          <a:prstGeom prst="ellipse">
            <a:avLst/>
          </a:prstGeom>
          <a:solidFill>
            <a:srgbClr val="10A37F"/>
          </a:solidFill>
          <a:ln w="12700">
            <a:solidFill>
              <a:srgbClr val="10A37F"/>
            </a:solidFill>
            <a:prstDash val="solid"/>
          </a:ln>
        </p:spPr>
      </p:sp>
      <p:sp>
        <p:nvSpPr>
          <p:cNvPr id="27" name="Text 25"/>
          <p:cNvSpPr/>
          <p:nvPr/>
        </p:nvSpPr>
        <p:spPr>
          <a:xfrm>
            <a:off x="4507992" y="4791456"/>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3종 중 출력 속도 가장 빠름</a:t>
            </a:r>
            <a:endParaRPr lang="en-US" sz="1200" dirty="0"/>
          </a:p>
        </p:txBody>
      </p:sp>
      <p:sp>
        <p:nvSpPr>
          <p:cNvPr id="28" name="Shape 26"/>
          <p:cNvSpPr/>
          <p:nvPr/>
        </p:nvSpPr>
        <p:spPr>
          <a:xfrm>
            <a:off x="7781544" y="1536192"/>
            <a:ext cx="3456432" cy="4526280"/>
          </a:xfrm>
          <a:prstGeom prst="rect">
            <a:avLst/>
          </a:prstGeom>
          <a:solidFill>
            <a:srgbClr val="2A2A2C"/>
          </a:solidFill>
          <a:ln w="12700">
            <a:solidFill>
              <a:srgbClr val="3A3A3C"/>
            </a:solidFill>
            <a:prstDash val="solid"/>
          </a:ln>
        </p:spPr>
      </p:sp>
      <p:sp>
        <p:nvSpPr>
          <p:cNvPr id="29" name="Shape 27"/>
          <p:cNvSpPr/>
          <p:nvPr/>
        </p:nvSpPr>
        <p:spPr>
          <a:xfrm>
            <a:off x="7781544" y="1536192"/>
            <a:ext cx="3456432" cy="54864"/>
          </a:xfrm>
          <a:prstGeom prst="rect">
            <a:avLst/>
          </a:prstGeom>
          <a:solidFill>
            <a:srgbClr val="CF7A5E"/>
          </a:solidFill>
          <a:ln w="12700">
            <a:solidFill>
              <a:srgbClr val="CF7A5E"/>
            </a:solidFill>
            <a:prstDash val="solid"/>
          </a:ln>
        </p:spPr>
      </p:sp>
      <p:sp>
        <p:nvSpPr>
          <p:cNvPr id="30" name="Text 28"/>
          <p:cNvSpPr/>
          <p:nvPr/>
        </p:nvSpPr>
        <p:spPr>
          <a:xfrm>
            <a:off x="7982712" y="1700784"/>
            <a:ext cx="3054096" cy="219456"/>
          </a:xfrm>
          <a:prstGeom prst="rect">
            <a:avLst/>
          </a:prstGeom>
          <a:noFill/>
          <a:ln/>
        </p:spPr>
        <p:txBody>
          <a:bodyPr wrap="square" lIns="0" tIns="0" rIns="0" bIns="0" rtlCol="0" anchor="ctr"/>
          <a:lstStyle/>
          <a:p>
            <a:pPr algn="l" indent="0" marL="0">
              <a:buNone/>
            </a:pPr>
            <a:r>
              <a:rPr lang="en-US" sz="1000" dirty="0">
                <a:solidFill>
                  <a:srgbClr val="9CA3AF"/>
                </a:solidFill>
                <a:latin typeface="Pretendard Light" pitchFamily="34" charset="0"/>
                <a:ea typeface="Pretendard Light" pitchFamily="34" charset="-122"/>
                <a:cs typeface="Pretendard Light" pitchFamily="34" charset="-120"/>
              </a:rPr>
              <a:t>Anthropic</a:t>
            </a:r>
            <a:endParaRPr lang="en-US" sz="1000" dirty="0"/>
          </a:p>
        </p:txBody>
      </p:sp>
      <p:sp>
        <p:nvSpPr>
          <p:cNvPr id="31" name="Text 29"/>
          <p:cNvSpPr/>
          <p:nvPr/>
        </p:nvSpPr>
        <p:spPr>
          <a:xfrm>
            <a:off x="7982712" y="1947672"/>
            <a:ext cx="3054096" cy="457200"/>
          </a:xfrm>
          <a:prstGeom prst="rect">
            <a:avLst/>
          </a:prstGeom>
          <a:noFill/>
          <a:ln/>
        </p:spPr>
        <p:txBody>
          <a:bodyPr wrap="square" lIns="0" tIns="0" rIns="0" bIns="0" rtlCol="0" anchor="ctr"/>
          <a:lstStyle/>
          <a:p>
            <a:pPr algn="l" indent="0" marL="0">
              <a:buNone/>
            </a:pPr>
            <a:r>
              <a:rPr lang="en-US" sz="2000" dirty="0">
                <a:solidFill>
                  <a:srgbClr val="FFFFFF"/>
                </a:solidFill>
                <a:latin typeface="Pretendard ExtraBold" pitchFamily="34" charset="0"/>
                <a:ea typeface="Pretendard ExtraBold" pitchFamily="34" charset="-122"/>
                <a:cs typeface="Pretendard ExtraBold" pitchFamily="34" charset="-120"/>
              </a:rPr>
              <a:t>Claude Opus 4.8</a:t>
            </a:r>
            <a:endParaRPr lang="en-US" sz="2000" dirty="0"/>
          </a:p>
        </p:txBody>
      </p:sp>
      <p:sp>
        <p:nvSpPr>
          <p:cNvPr id="32" name="Shape 30"/>
          <p:cNvSpPr/>
          <p:nvPr/>
        </p:nvSpPr>
        <p:spPr>
          <a:xfrm>
            <a:off x="7982712" y="2468880"/>
            <a:ext cx="3054096" cy="0"/>
          </a:xfrm>
          <a:prstGeom prst="line">
            <a:avLst/>
          </a:prstGeom>
          <a:noFill/>
          <a:ln w="12700">
            <a:solidFill>
              <a:srgbClr val="3A3A3C"/>
            </a:solidFill>
            <a:prstDash val="solid"/>
          </a:ln>
        </p:spPr>
      </p:sp>
      <p:sp>
        <p:nvSpPr>
          <p:cNvPr id="33" name="Shape 31"/>
          <p:cNvSpPr/>
          <p:nvPr/>
        </p:nvSpPr>
        <p:spPr>
          <a:xfrm>
            <a:off x="7982712" y="2724912"/>
            <a:ext cx="91440" cy="91440"/>
          </a:xfrm>
          <a:prstGeom prst="ellipse">
            <a:avLst/>
          </a:prstGeom>
          <a:solidFill>
            <a:srgbClr val="CF7A5E"/>
          </a:solidFill>
          <a:ln w="12700">
            <a:solidFill>
              <a:srgbClr val="CF7A5E"/>
            </a:solidFill>
            <a:prstDash val="solid"/>
          </a:ln>
        </p:spPr>
      </p:sp>
      <p:sp>
        <p:nvSpPr>
          <p:cNvPr id="34" name="Text 32"/>
          <p:cNvSpPr/>
          <p:nvPr/>
        </p:nvSpPr>
        <p:spPr>
          <a:xfrm>
            <a:off x="8147304" y="2633472"/>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작업 복잡도를 스스로 판단하여</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처리 방식 자동 조절</a:t>
            </a:r>
            <a:endParaRPr lang="en-US" sz="1200" dirty="0"/>
          </a:p>
        </p:txBody>
      </p:sp>
      <p:sp>
        <p:nvSpPr>
          <p:cNvPr id="35" name="Shape 33"/>
          <p:cNvSpPr/>
          <p:nvPr/>
        </p:nvSpPr>
        <p:spPr>
          <a:xfrm>
            <a:off x="7982712" y="3803904"/>
            <a:ext cx="91440" cy="91440"/>
          </a:xfrm>
          <a:prstGeom prst="ellipse">
            <a:avLst/>
          </a:prstGeom>
          <a:solidFill>
            <a:srgbClr val="CF7A5E"/>
          </a:solidFill>
          <a:ln w="12700">
            <a:solidFill>
              <a:srgbClr val="CF7A5E"/>
            </a:solidFill>
            <a:prstDash val="solid"/>
          </a:ln>
        </p:spPr>
      </p:sp>
      <p:sp>
        <p:nvSpPr>
          <p:cNvPr id="36" name="Text 34"/>
          <p:cNvSpPr/>
          <p:nvPr/>
        </p:nvSpPr>
        <p:spPr>
          <a:xfrm>
            <a:off x="8147304" y="3712464"/>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쉬운 루틴은 빠르게, 예외 상황은</a:t>
            </a:r>
            <a:endParaRPr lang="en-US" sz="1200" dirty="0"/>
          </a:p>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사고 시간을 늘려 정확도 극대화</a:t>
            </a:r>
            <a:endParaRPr lang="en-US" sz="1200" dirty="0"/>
          </a:p>
        </p:txBody>
      </p:sp>
      <p:sp>
        <p:nvSpPr>
          <p:cNvPr id="37" name="Shape 35"/>
          <p:cNvSpPr/>
          <p:nvPr/>
        </p:nvSpPr>
        <p:spPr>
          <a:xfrm>
            <a:off x="7982712" y="4882896"/>
            <a:ext cx="91440" cy="91440"/>
          </a:xfrm>
          <a:prstGeom prst="ellipse">
            <a:avLst/>
          </a:prstGeom>
          <a:solidFill>
            <a:srgbClr val="CF7A5E"/>
          </a:solidFill>
          <a:ln w="12700">
            <a:solidFill>
              <a:srgbClr val="CF7A5E"/>
            </a:solidFill>
            <a:prstDash val="solid"/>
          </a:ln>
        </p:spPr>
      </p:sp>
      <p:sp>
        <p:nvSpPr>
          <p:cNvPr id="38" name="Text 36"/>
          <p:cNvSpPr/>
          <p:nvPr/>
        </p:nvSpPr>
        <p:spPr>
          <a:xfrm>
            <a:off x="8147304" y="4791456"/>
            <a:ext cx="2889504" cy="877824"/>
          </a:xfrm>
          <a:prstGeom prst="rect">
            <a:avLst/>
          </a:prstGeom>
          <a:noFill/>
          <a:ln/>
        </p:spPr>
        <p:txBody>
          <a:bodyPr wrap="square" lIns="0" tIns="0" rIns="0" bIns="0" rtlCol="0" anchor="ctr"/>
          <a:lstStyle/>
          <a:p>
            <a:pPr algn="l" indent="0" marL="0">
              <a:lnSpc>
                <a:spcPct val="150000"/>
              </a:lnSpc>
              <a:buNone/>
            </a:pPr>
            <a:r>
              <a:rPr lang="en-US" sz="1200" dirty="0">
                <a:solidFill>
                  <a:srgbClr val="CCCCCC"/>
                </a:solidFill>
                <a:latin typeface="Pretendard Regular" pitchFamily="34" charset="0"/>
                <a:ea typeface="Pretendard Regular" pitchFamily="34" charset="-122"/>
                <a:cs typeface="Pretendard Regular" pitchFamily="34" charset="-120"/>
              </a:rPr>
              <a:t>토큰 소비량 3종 중 최다</a:t>
            </a:r>
            <a:endParaRPr lang="en-US" sz="1200" dirty="0"/>
          </a:p>
        </p:txBody>
      </p:sp>
      <p:sp>
        <p:nvSpPr>
          <p:cNvPr id="39" name="Shape 37"/>
          <p:cNvSpPr/>
          <p:nvPr/>
        </p:nvSpPr>
        <p:spPr>
          <a:xfrm>
            <a:off x="0" y="6400800"/>
            <a:ext cx="12188952" cy="457200"/>
          </a:xfrm>
          <a:prstGeom prst="rect">
            <a:avLst/>
          </a:prstGeom>
          <a:solidFill>
            <a:srgbClr val="1D1D1F"/>
          </a:solidFill>
          <a:ln w="12700">
            <a:solidFill>
              <a:srgbClr val="1D1D1F"/>
            </a:solidFill>
            <a:prstDash val="solid"/>
          </a:ln>
        </p:spPr>
      </p:sp>
      <p:sp>
        <p:nvSpPr>
          <p:cNvPr id="40" name="Text 38"/>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모든 모델 동일 과업 · 동일 프롬프트 · API 환경 테스트 — 공정한 비교를 위한 통제 조건 유지</a:t>
            </a:r>
            <a:endParaRPr lang="en-US" sz="1100" dirty="0"/>
          </a:p>
        </p:txBody>
      </p:sp>
      <p:sp>
        <p:nvSpPr>
          <p:cNvPr id="41" name="Text 39"/>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III. 테스트 설계</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1D1D1F"/>
                </a:solidFill>
                <a:latin typeface="Pretendard Bold" pitchFamily="34" charset="0"/>
                <a:ea typeface="Pretendard Bold" pitchFamily="34" charset="-122"/>
                <a:cs typeface="Pretendard Bold" pitchFamily="34" charset="-120"/>
              </a:rPr>
              <a:t>평가 지표 및 가중치</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6B7280"/>
                </a:solidFill>
                <a:latin typeface="Pretendard Regular" pitchFamily="34" charset="0"/>
                <a:ea typeface="Pretendard Regular" pitchFamily="34" charset="-122"/>
                <a:cs typeface="Pretendard Regular" pitchFamily="34" charset="-120"/>
              </a:rPr>
              <a:t>가중순위결정법 적용 — 2안 비교법으로 1:1 비교 후 가중치 반영 총점 산출 (∑ = 1.0)</a:t>
            </a:r>
            <a:endParaRPr lang="en-US" sz="1500" dirty="0"/>
          </a:p>
        </p:txBody>
      </p:sp>
      <p:sp>
        <p:nvSpPr>
          <p:cNvPr id="5" name="Shape 3"/>
          <p:cNvSpPr/>
          <p:nvPr/>
        </p:nvSpPr>
        <p:spPr>
          <a:xfrm>
            <a:off x="502920" y="1353312"/>
            <a:ext cx="11183112" cy="0"/>
          </a:xfrm>
          <a:prstGeom prst="line">
            <a:avLst/>
          </a:prstGeom>
          <a:noFill/>
          <a:ln w="12700">
            <a:solidFill>
              <a:srgbClr val="E0E0E0"/>
            </a:solidFill>
            <a:prstDash val="solid"/>
          </a:ln>
        </p:spPr>
      </p:sp>
      <p:sp>
        <p:nvSpPr>
          <p:cNvPr id="6" name="Text 4"/>
          <p:cNvSpPr/>
          <p:nvPr/>
        </p:nvSpPr>
        <p:spPr>
          <a:xfrm>
            <a:off x="502920" y="1572768"/>
            <a:ext cx="5212080" cy="256032"/>
          </a:xfrm>
          <a:prstGeom prst="rect">
            <a:avLst/>
          </a:prstGeom>
          <a:noFill/>
          <a:ln/>
        </p:spPr>
        <p:txBody>
          <a:bodyPr wrap="square" lIns="0" tIns="0" rIns="0" bIns="0" rtlCol="0" anchor="ctr"/>
          <a:lstStyle/>
          <a:p>
            <a:pPr algn="l" indent="0" marL="0">
              <a:buNone/>
            </a:pPr>
            <a:r>
              <a:rPr lang="en-US" sz="1300" dirty="0">
                <a:solidFill>
                  <a:srgbClr val="0066CC"/>
                </a:solidFill>
                <a:latin typeface="Pretendard SemiBold" pitchFamily="34" charset="0"/>
                <a:ea typeface="Pretendard SemiBold" pitchFamily="34" charset="-122"/>
                <a:cs typeface="Pretendard SemiBold" pitchFamily="34" charset="-120"/>
              </a:rPr>
              <a:t>업무 과업 구성</a:t>
            </a:r>
            <a:endParaRPr lang="en-US" sz="1300" dirty="0"/>
          </a:p>
        </p:txBody>
      </p:sp>
      <p:sp>
        <p:nvSpPr>
          <p:cNvPr id="7" name="Shape 5"/>
          <p:cNvSpPr/>
          <p:nvPr/>
        </p:nvSpPr>
        <p:spPr>
          <a:xfrm>
            <a:off x="502920" y="1901952"/>
            <a:ext cx="5349240" cy="3429000"/>
          </a:xfrm>
          <a:prstGeom prst="rect">
            <a:avLst/>
          </a:prstGeom>
          <a:solidFill>
            <a:srgbClr val="FFFFFF"/>
          </a:solidFill>
          <a:ln w="12700">
            <a:solidFill>
              <a:srgbClr val="E0E0E0"/>
            </a:solidFill>
            <a:prstDash val="solid"/>
          </a:ln>
        </p:spPr>
      </p:sp>
      <p:sp>
        <p:nvSpPr>
          <p:cNvPr id="8" name="Text 6"/>
          <p:cNvSpPr/>
          <p:nvPr/>
        </p:nvSpPr>
        <p:spPr>
          <a:xfrm>
            <a:off x="658368" y="2066544"/>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과업 유형</a:t>
            </a:r>
            <a:endParaRPr lang="en-US" sz="1100" dirty="0"/>
          </a:p>
        </p:txBody>
      </p:sp>
      <p:sp>
        <p:nvSpPr>
          <p:cNvPr id="9" name="Text 7"/>
          <p:cNvSpPr/>
          <p:nvPr/>
        </p:nvSpPr>
        <p:spPr>
          <a:xfrm>
            <a:off x="2029968" y="2066544"/>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이메일 작성</a:t>
            </a:r>
            <a:endParaRPr lang="en-US" sz="1200" dirty="0"/>
          </a:p>
        </p:txBody>
      </p:sp>
      <p:sp>
        <p:nvSpPr>
          <p:cNvPr id="10" name="Shape 8"/>
          <p:cNvSpPr/>
          <p:nvPr/>
        </p:nvSpPr>
        <p:spPr>
          <a:xfrm>
            <a:off x="658368" y="2478024"/>
            <a:ext cx="4983480" cy="0"/>
          </a:xfrm>
          <a:prstGeom prst="line">
            <a:avLst/>
          </a:prstGeom>
          <a:noFill/>
          <a:ln w="12700">
            <a:solidFill>
              <a:srgbClr val="E0E0E0"/>
            </a:solidFill>
            <a:prstDash val="solid"/>
          </a:ln>
        </p:spPr>
      </p:sp>
      <p:sp>
        <p:nvSpPr>
          <p:cNvPr id="11" name="Text 9"/>
          <p:cNvSpPr/>
          <p:nvPr/>
        </p:nvSpPr>
        <p:spPr>
          <a:xfrm>
            <a:off x="658368" y="2578608"/>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발신 시간</a:t>
            </a:r>
            <a:endParaRPr lang="en-US" sz="1100" dirty="0"/>
          </a:p>
        </p:txBody>
      </p:sp>
      <p:sp>
        <p:nvSpPr>
          <p:cNvPr id="12" name="Text 10"/>
          <p:cNvSpPr/>
          <p:nvPr/>
        </p:nvSpPr>
        <p:spPr>
          <a:xfrm>
            <a:off x="2029968" y="2578608"/>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오전 10:30</a:t>
            </a:r>
            <a:endParaRPr lang="en-US" sz="1200" dirty="0"/>
          </a:p>
        </p:txBody>
      </p:sp>
      <p:sp>
        <p:nvSpPr>
          <p:cNvPr id="13" name="Shape 11"/>
          <p:cNvSpPr/>
          <p:nvPr/>
        </p:nvSpPr>
        <p:spPr>
          <a:xfrm>
            <a:off x="658368" y="2990088"/>
            <a:ext cx="4983480" cy="0"/>
          </a:xfrm>
          <a:prstGeom prst="line">
            <a:avLst/>
          </a:prstGeom>
          <a:noFill/>
          <a:ln w="12700">
            <a:solidFill>
              <a:srgbClr val="E0E0E0"/>
            </a:solidFill>
            <a:prstDash val="solid"/>
          </a:ln>
        </p:spPr>
      </p:sp>
      <p:sp>
        <p:nvSpPr>
          <p:cNvPr id="14" name="Text 12"/>
          <p:cNvSpPr/>
          <p:nvPr/>
        </p:nvSpPr>
        <p:spPr>
          <a:xfrm>
            <a:off x="658368" y="3090672"/>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대상 수신자</a:t>
            </a:r>
            <a:endParaRPr lang="en-US" sz="1100" dirty="0"/>
          </a:p>
        </p:txBody>
      </p:sp>
      <p:sp>
        <p:nvSpPr>
          <p:cNvPr id="15" name="Text 13"/>
          <p:cNvSpPr/>
          <p:nvPr/>
        </p:nvSpPr>
        <p:spPr>
          <a:xfrm>
            <a:off x="2029968" y="3090672"/>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기초공학 담당 장정욱 교수</a:t>
            </a:r>
            <a:endParaRPr lang="en-US" sz="1200" dirty="0"/>
          </a:p>
        </p:txBody>
      </p:sp>
      <p:sp>
        <p:nvSpPr>
          <p:cNvPr id="16" name="Shape 14"/>
          <p:cNvSpPr/>
          <p:nvPr/>
        </p:nvSpPr>
        <p:spPr>
          <a:xfrm>
            <a:off x="658368" y="3502152"/>
            <a:ext cx="4983480" cy="0"/>
          </a:xfrm>
          <a:prstGeom prst="line">
            <a:avLst/>
          </a:prstGeom>
          <a:noFill/>
          <a:ln w="12700">
            <a:solidFill>
              <a:srgbClr val="E0E0E0"/>
            </a:solidFill>
            <a:prstDash val="solid"/>
          </a:ln>
        </p:spPr>
      </p:sp>
      <p:sp>
        <p:nvSpPr>
          <p:cNvPr id="17" name="Text 15"/>
          <p:cNvSpPr/>
          <p:nvPr/>
        </p:nvSpPr>
        <p:spPr>
          <a:xfrm>
            <a:off x="658368" y="3602736"/>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요청 목적</a:t>
            </a:r>
            <a:endParaRPr lang="en-US" sz="1100" dirty="0"/>
          </a:p>
        </p:txBody>
      </p:sp>
      <p:sp>
        <p:nvSpPr>
          <p:cNvPr id="18" name="Text 16"/>
          <p:cNvSpPr/>
          <p:nvPr/>
        </p:nvSpPr>
        <p:spPr>
          <a:xfrm>
            <a:off x="2029968" y="3602736"/>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시험 점수 이의 — 답안지 검토 및 재평가</a:t>
            </a:r>
            <a:endParaRPr lang="en-US" sz="1200" dirty="0"/>
          </a:p>
        </p:txBody>
      </p:sp>
      <p:sp>
        <p:nvSpPr>
          <p:cNvPr id="19" name="Shape 17"/>
          <p:cNvSpPr/>
          <p:nvPr/>
        </p:nvSpPr>
        <p:spPr>
          <a:xfrm>
            <a:off x="658368" y="4014216"/>
            <a:ext cx="4983480" cy="0"/>
          </a:xfrm>
          <a:prstGeom prst="line">
            <a:avLst/>
          </a:prstGeom>
          <a:noFill/>
          <a:ln w="12700">
            <a:solidFill>
              <a:srgbClr val="E0E0E0"/>
            </a:solidFill>
            <a:prstDash val="solid"/>
          </a:ln>
        </p:spPr>
      </p:sp>
      <p:sp>
        <p:nvSpPr>
          <p:cNvPr id="20" name="Text 18"/>
          <p:cNvSpPr/>
          <p:nvPr/>
        </p:nvSpPr>
        <p:spPr>
          <a:xfrm>
            <a:off x="658368" y="4114800"/>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제목 형식</a:t>
            </a:r>
            <a:endParaRPr lang="en-US" sz="1100" dirty="0"/>
          </a:p>
        </p:txBody>
      </p:sp>
      <p:sp>
        <p:nvSpPr>
          <p:cNvPr id="21" name="Text 19"/>
          <p:cNvSpPr/>
          <p:nvPr/>
        </p:nvSpPr>
        <p:spPr>
          <a:xfrm>
            <a:off x="2029968" y="4114800"/>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[기초공학] + 목적 + 학번 + 이름</a:t>
            </a:r>
            <a:endParaRPr lang="en-US" sz="1200" dirty="0"/>
          </a:p>
        </p:txBody>
      </p:sp>
      <p:sp>
        <p:nvSpPr>
          <p:cNvPr id="22" name="Shape 20"/>
          <p:cNvSpPr/>
          <p:nvPr/>
        </p:nvSpPr>
        <p:spPr>
          <a:xfrm>
            <a:off x="658368" y="4526280"/>
            <a:ext cx="4983480" cy="0"/>
          </a:xfrm>
          <a:prstGeom prst="line">
            <a:avLst/>
          </a:prstGeom>
          <a:noFill/>
          <a:ln w="12700">
            <a:solidFill>
              <a:srgbClr val="E0E0E0"/>
            </a:solidFill>
            <a:prstDash val="solid"/>
          </a:ln>
        </p:spPr>
      </p:sp>
      <p:sp>
        <p:nvSpPr>
          <p:cNvPr id="23" name="Text 21"/>
          <p:cNvSpPr/>
          <p:nvPr/>
        </p:nvSpPr>
        <p:spPr>
          <a:xfrm>
            <a:off x="658368" y="4626864"/>
            <a:ext cx="1280160" cy="329184"/>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톤 &amp; 금지어</a:t>
            </a:r>
            <a:endParaRPr lang="en-US" sz="1100" dirty="0"/>
          </a:p>
        </p:txBody>
      </p:sp>
      <p:sp>
        <p:nvSpPr>
          <p:cNvPr id="24" name="Text 22"/>
          <p:cNvSpPr/>
          <p:nvPr/>
        </p:nvSpPr>
        <p:spPr>
          <a:xfrm>
            <a:off x="2029968" y="4626864"/>
            <a:ext cx="3611880" cy="329184"/>
          </a:xfrm>
          <a:prstGeom prst="rect">
            <a:avLst/>
          </a:prstGeom>
          <a:noFill/>
          <a:ln/>
        </p:spPr>
        <p:txBody>
          <a:bodyPr wrap="square" lIns="0" tIns="0" rIns="0" bIns="0" rtlCol="0" anchor="ctr"/>
          <a:lstStyle/>
          <a:p>
            <a:pPr algn="l" indent="0" marL="0">
              <a:buNone/>
            </a:pPr>
            <a:r>
              <a:rPr lang="en-US" sz="1200" dirty="0">
                <a:solidFill>
                  <a:srgbClr val="1D1D1F"/>
                </a:solidFill>
                <a:latin typeface="Pretendard SemiBold" pitchFamily="34" charset="0"/>
                <a:ea typeface="Pretendard SemiBold" pitchFamily="34" charset="-122"/>
                <a:cs typeface="Pretendard SemiBold" pitchFamily="34" charset="-120"/>
              </a:rPr>
              <a:t>간결·정중 / 일방적 부탁·불만 어투 금지</a:t>
            </a:r>
            <a:endParaRPr lang="en-US" sz="1200" dirty="0"/>
          </a:p>
        </p:txBody>
      </p:sp>
      <p:sp>
        <p:nvSpPr>
          <p:cNvPr id="25" name="Text 23"/>
          <p:cNvSpPr/>
          <p:nvPr/>
        </p:nvSpPr>
        <p:spPr>
          <a:xfrm>
            <a:off x="6172200" y="1572768"/>
            <a:ext cx="5605272" cy="256032"/>
          </a:xfrm>
          <a:prstGeom prst="rect">
            <a:avLst/>
          </a:prstGeom>
          <a:noFill/>
          <a:ln/>
        </p:spPr>
        <p:txBody>
          <a:bodyPr wrap="square" lIns="0" tIns="0" rIns="0" bIns="0" rtlCol="0" anchor="ctr"/>
          <a:lstStyle/>
          <a:p>
            <a:pPr algn="l" indent="0" marL="0">
              <a:buNone/>
            </a:pPr>
            <a:r>
              <a:rPr lang="en-US" sz="1300" dirty="0">
                <a:solidFill>
                  <a:srgbClr val="0066CC"/>
                </a:solidFill>
                <a:latin typeface="Pretendard SemiBold" pitchFamily="34" charset="0"/>
                <a:ea typeface="Pretendard SemiBold" pitchFamily="34" charset="-122"/>
                <a:cs typeface="Pretendard SemiBold" pitchFamily="34" charset="-120"/>
              </a:rPr>
              <a:t>평가 기준 및 가중치</a:t>
            </a:r>
            <a:endParaRPr lang="en-US" sz="1300" dirty="0"/>
          </a:p>
        </p:txBody>
      </p:sp>
      <p:sp>
        <p:nvSpPr>
          <p:cNvPr id="26" name="Shape 24"/>
          <p:cNvSpPr/>
          <p:nvPr/>
        </p:nvSpPr>
        <p:spPr>
          <a:xfrm>
            <a:off x="6172200" y="1901952"/>
            <a:ext cx="5605272" cy="658368"/>
          </a:xfrm>
          <a:prstGeom prst="rect">
            <a:avLst/>
          </a:prstGeom>
          <a:solidFill>
            <a:srgbClr val="FFFFFF"/>
          </a:solidFill>
          <a:ln w="12700">
            <a:solidFill>
              <a:srgbClr val="E0E0E0"/>
            </a:solidFill>
            <a:prstDash val="solid"/>
          </a:ln>
        </p:spPr>
      </p:sp>
      <p:sp>
        <p:nvSpPr>
          <p:cNvPr id="27" name="Shape 25"/>
          <p:cNvSpPr/>
          <p:nvPr/>
        </p:nvSpPr>
        <p:spPr>
          <a:xfrm>
            <a:off x="6272784" y="2057400"/>
            <a:ext cx="640080" cy="274320"/>
          </a:xfrm>
          <a:prstGeom prst="roundRect">
            <a:avLst>
              <a:gd name="adj" fmla="val 55000"/>
            </a:avLst>
          </a:prstGeom>
          <a:solidFill>
            <a:srgbClr val="0066CC"/>
          </a:solidFill>
          <a:ln w="12700">
            <a:solidFill>
              <a:srgbClr val="0066CC"/>
            </a:solidFill>
            <a:prstDash val="solid"/>
          </a:ln>
        </p:spPr>
      </p:sp>
      <p:sp>
        <p:nvSpPr>
          <p:cNvPr id="28" name="Text 26"/>
          <p:cNvSpPr/>
          <p:nvPr/>
        </p:nvSpPr>
        <p:spPr>
          <a:xfrm>
            <a:off x="6272784" y="2057400"/>
            <a:ext cx="640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0.30</a:t>
            </a:r>
            <a:endParaRPr lang="en-US" sz="1000" dirty="0"/>
          </a:p>
        </p:txBody>
      </p:sp>
      <p:sp>
        <p:nvSpPr>
          <p:cNvPr id="29" name="Text 27"/>
          <p:cNvSpPr/>
          <p:nvPr/>
        </p:nvSpPr>
        <p:spPr>
          <a:xfrm>
            <a:off x="7004304" y="1975104"/>
            <a:ext cx="2560320" cy="256032"/>
          </a:xfrm>
          <a:prstGeom prst="rect">
            <a:avLst/>
          </a:prstGeom>
          <a:noFill/>
          <a:ln/>
        </p:spPr>
        <p:txBody>
          <a:bodyPr wrap="square" lIns="0" tIns="0" rIns="0" bIns="0" rtlCol="0" anchor="ctr"/>
          <a:lstStyle/>
          <a:p>
            <a:pPr algn="l" indent="0" marL="0">
              <a:buNone/>
            </a:pPr>
            <a:r>
              <a:rPr lang="en-US" sz="1300" dirty="0">
                <a:solidFill>
                  <a:srgbClr val="1D1D1F"/>
                </a:solidFill>
                <a:latin typeface="Pretendard SemiBold" pitchFamily="34" charset="0"/>
                <a:ea typeface="Pretendard SemiBold" pitchFamily="34" charset="-122"/>
                <a:cs typeface="Pretendard SemiBold" pitchFamily="34" charset="-120"/>
              </a:rPr>
              <a:t>표현력</a:t>
            </a:r>
            <a:endParaRPr lang="en-US" sz="1300" dirty="0"/>
          </a:p>
        </p:txBody>
      </p:sp>
      <p:sp>
        <p:nvSpPr>
          <p:cNvPr id="30" name="Text 28"/>
          <p:cNvSpPr/>
          <p:nvPr/>
        </p:nvSpPr>
        <p:spPr>
          <a:xfrm>
            <a:off x="7004304" y="2249424"/>
            <a:ext cx="2560320" cy="237744"/>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상황 이해도 · 톤 적합성</a:t>
            </a:r>
            <a:endParaRPr lang="en-US" sz="1100" dirty="0"/>
          </a:p>
        </p:txBody>
      </p:sp>
      <p:sp>
        <p:nvSpPr>
          <p:cNvPr id="31" name="Shape 29"/>
          <p:cNvSpPr/>
          <p:nvPr/>
        </p:nvSpPr>
        <p:spPr>
          <a:xfrm>
            <a:off x="9738360" y="2139696"/>
            <a:ext cx="1810512" cy="146304"/>
          </a:xfrm>
          <a:prstGeom prst="rect">
            <a:avLst/>
          </a:prstGeom>
          <a:solidFill>
            <a:srgbClr val="E0E0E0"/>
          </a:solidFill>
          <a:ln w="12700">
            <a:solidFill>
              <a:srgbClr val="E0E0E0"/>
            </a:solidFill>
            <a:prstDash val="solid"/>
          </a:ln>
        </p:spPr>
      </p:sp>
      <p:sp>
        <p:nvSpPr>
          <p:cNvPr id="32" name="Shape 30"/>
          <p:cNvSpPr/>
          <p:nvPr/>
        </p:nvSpPr>
        <p:spPr>
          <a:xfrm>
            <a:off x="9738360" y="2139696"/>
            <a:ext cx="1810512" cy="146304"/>
          </a:xfrm>
          <a:prstGeom prst="rect">
            <a:avLst/>
          </a:prstGeom>
          <a:solidFill>
            <a:srgbClr val="0066CC"/>
          </a:solidFill>
          <a:ln w="12700">
            <a:solidFill>
              <a:srgbClr val="0066CC"/>
            </a:solidFill>
            <a:prstDash val="solid"/>
          </a:ln>
        </p:spPr>
      </p:sp>
      <p:sp>
        <p:nvSpPr>
          <p:cNvPr id="33" name="Shape 31"/>
          <p:cNvSpPr/>
          <p:nvPr/>
        </p:nvSpPr>
        <p:spPr>
          <a:xfrm>
            <a:off x="6172200" y="2560320"/>
            <a:ext cx="5605272" cy="658368"/>
          </a:xfrm>
          <a:prstGeom prst="rect">
            <a:avLst/>
          </a:prstGeom>
          <a:solidFill>
            <a:srgbClr val="F5F5F7"/>
          </a:solidFill>
          <a:ln w="12700">
            <a:solidFill>
              <a:srgbClr val="E0E0E0"/>
            </a:solidFill>
            <a:prstDash val="solid"/>
          </a:ln>
        </p:spPr>
      </p:sp>
      <p:sp>
        <p:nvSpPr>
          <p:cNvPr id="34" name="Shape 32"/>
          <p:cNvSpPr/>
          <p:nvPr/>
        </p:nvSpPr>
        <p:spPr>
          <a:xfrm>
            <a:off x="6272784" y="2715768"/>
            <a:ext cx="640080" cy="274320"/>
          </a:xfrm>
          <a:prstGeom prst="roundRect">
            <a:avLst>
              <a:gd name="adj" fmla="val 55000"/>
            </a:avLst>
          </a:prstGeom>
          <a:solidFill>
            <a:srgbClr val="0066CC"/>
          </a:solidFill>
          <a:ln w="12700">
            <a:solidFill>
              <a:srgbClr val="0066CC"/>
            </a:solidFill>
            <a:prstDash val="solid"/>
          </a:ln>
        </p:spPr>
      </p:sp>
      <p:sp>
        <p:nvSpPr>
          <p:cNvPr id="35" name="Text 33"/>
          <p:cNvSpPr/>
          <p:nvPr/>
        </p:nvSpPr>
        <p:spPr>
          <a:xfrm>
            <a:off x="6272784" y="2715768"/>
            <a:ext cx="640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0.20</a:t>
            </a:r>
            <a:endParaRPr lang="en-US" sz="1000" dirty="0"/>
          </a:p>
        </p:txBody>
      </p:sp>
      <p:sp>
        <p:nvSpPr>
          <p:cNvPr id="36" name="Text 34"/>
          <p:cNvSpPr/>
          <p:nvPr/>
        </p:nvSpPr>
        <p:spPr>
          <a:xfrm>
            <a:off x="7004304" y="2633472"/>
            <a:ext cx="2560320" cy="256032"/>
          </a:xfrm>
          <a:prstGeom prst="rect">
            <a:avLst/>
          </a:prstGeom>
          <a:noFill/>
          <a:ln/>
        </p:spPr>
        <p:txBody>
          <a:bodyPr wrap="square" lIns="0" tIns="0" rIns="0" bIns="0" rtlCol="0" anchor="ctr"/>
          <a:lstStyle/>
          <a:p>
            <a:pPr algn="l" indent="0" marL="0">
              <a:buNone/>
            </a:pPr>
            <a:r>
              <a:rPr lang="en-US" sz="1300" dirty="0">
                <a:solidFill>
                  <a:srgbClr val="1D1D1F"/>
                </a:solidFill>
                <a:latin typeface="Pretendard SemiBold" pitchFamily="34" charset="0"/>
                <a:ea typeface="Pretendard SemiBold" pitchFamily="34" charset="-122"/>
                <a:cs typeface="Pretendard SemiBold" pitchFamily="34" charset="-120"/>
              </a:rPr>
              <a:t>형식 준수</a:t>
            </a:r>
            <a:endParaRPr lang="en-US" sz="1300" dirty="0"/>
          </a:p>
        </p:txBody>
      </p:sp>
      <p:sp>
        <p:nvSpPr>
          <p:cNvPr id="37" name="Text 35"/>
          <p:cNvSpPr/>
          <p:nvPr/>
        </p:nvSpPr>
        <p:spPr>
          <a:xfrm>
            <a:off x="7004304" y="2907792"/>
            <a:ext cx="2560320" cy="237744"/>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제목·경어체 등 가이드라인 준수</a:t>
            </a:r>
            <a:endParaRPr lang="en-US" sz="1100" dirty="0"/>
          </a:p>
        </p:txBody>
      </p:sp>
      <p:sp>
        <p:nvSpPr>
          <p:cNvPr id="38" name="Shape 36"/>
          <p:cNvSpPr/>
          <p:nvPr/>
        </p:nvSpPr>
        <p:spPr>
          <a:xfrm>
            <a:off x="9738360" y="2798064"/>
            <a:ext cx="1810512" cy="146304"/>
          </a:xfrm>
          <a:prstGeom prst="rect">
            <a:avLst/>
          </a:prstGeom>
          <a:solidFill>
            <a:srgbClr val="E0E0E0"/>
          </a:solidFill>
          <a:ln w="12700">
            <a:solidFill>
              <a:srgbClr val="E0E0E0"/>
            </a:solidFill>
            <a:prstDash val="solid"/>
          </a:ln>
        </p:spPr>
      </p:sp>
      <p:sp>
        <p:nvSpPr>
          <p:cNvPr id="39" name="Shape 37"/>
          <p:cNvSpPr/>
          <p:nvPr/>
        </p:nvSpPr>
        <p:spPr>
          <a:xfrm>
            <a:off x="9738360" y="2798064"/>
            <a:ext cx="1213043" cy="146304"/>
          </a:xfrm>
          <a:prstGeom prst="rect">
            <a:avLst/>
          </a:prstGeom>
          <a:solidFill>
            <a:srgbClr val="0066CC"/>
          </a:solidFill>
          <a:ln w="12700">
            <a:solidFill>
              <a:srgbClr val="0066CC"/>
            </a:solidFill>
            <a:prstDash val="solid"/>
          </a:ln>
        </p:spPr>
      </p:sp>
      <p:sp>
        <p:nvSpPr>
          <p:cNvPr id="40" name="Shape 38"/>
          <p:cNvSpPr/>
          <p:nvPr/>
        </p:nvSpPr>
        <p:spPr>
          <a:xfrm>
            <a:off x="6172200" y="3218688"/>
            <a:ext cx="5605272" cy="658368"/>
          </a:xfrm>
          <a:prstGeom prst="rect">
            <a:avLst/>
          </a:prstGeom>
          <a:solidFill>
            <a:srgbClr val="FFFFFF"/>
          </a:solidFill>
          <a:ln w="12700">
            <a:solidFill>
              <a:srgbClr val="E0E0E0"/>
            </a:solidFill>
            <a:prstDash val="solid"/>
          </a:ln>
        </p:spPr>
      </p:sp>
      <p:sp>
        <p:nvSpPr>
          <p:cNvPr id="41" name="Shape 39"/>
          <p:cNvSpPr/>
          <p:nvPr/>
        </p:nvSpPr>
        <p:spPr>
          <a:xfrm>
            <a:off x="6272784" y="3374136"/>
            <a:ext cx="640080" cy="274320"/>
          </a:xfrm>
          <a:prstGeom prst="roundRect">
            <a:avLst>
              <a:gd name="adj" fmla="val 55000"/>
            </a:avLst>
          </a:prstGeom>
          <a:solidFill>
            <a:srgbClr val="0066CC"/>
          </a:solidFill>
          <a:ln w="12700">
            <a:solidFill>
              <a:srgbClr val="0066CC"/>
            </a:solidFill>
            <a:prstDash val="solid"/>
          </a:ln>
        </p:spPr>
      </p:sp>
      <p:sp>
        <p:nvSpPr>
          <p:cNvPr id="42" name="Text 40"/>
          <p:cNvSpPr/>
          <p:nvPr/>
        </p:nvSpPr>
        <p:spPr>
          <a:xfrm>
            <a:off x="6272784" y="3374136"/>
            <a:ext cx="640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0.20</a:t>
            </a:r>
            <a:endParaRPr lang="en-US" sz="1000" dirty="0"/>
          </a:p>
        </p:txBody>
      </p:sp>
      <p:sp>
        <p:nvSpPr>
          <p:cNvPr id="43" name="Text 41"/>
          <p:cNvSpPr/>
          <p:nvPr/>
        </p:nvSpPr>
        <p:spPr>
          <a:xfrm>
            <a:off x="7004304" y="3291840"/>
            <a:ext cx="2560320" cy="256032"/>
          </a:xfrm>
          <a:prstGeom prst="rect">
            <a:avLst/>
          </a:prstGeom>
          <a:noFill/>
          <a:ln/>
        </p:spPr>
        <p:txBody>
          <a:bodyPr wrap="square" lIns="0" tIns="0" rIns="0" bIns="0" rtlCol="0" anchor="ctr"/>
          <a:lstStyle/>
          <a:p>
            <a:pPr algn="l" indent="0" marL="0">
              <a:buNone/>
            </a:pPr>
            <a:r>
              <a:rPr lang="en-US" sz="1300" dirty="0">
                <a:solidFill>
                  <a:srgbClr val="1D1D1F"/>
                </a:solidFill>
                <a:latin typeface="Pretendard SemiBold" pitchFamily="34" charset="0"/>
                <a:ea typeface="Pretendard SemiBold" pitchFamily="34" charset="-122"/>
                <a:cs typeface="Pretendard SemiBold" pitchFamily="34" charset="-120"/>
              </a:rPr>
              <a:t>비용</a:t>
            </a:r>
            <a:endParaRPr lang="en-US" sz="1300" dirty="0"/>
          </a:p>
        </p:txBody>
      </p:sp>
      <p:sp>
        <p:nvSpPr>
          <p:cNvPr id="44" name="Text 42"/>
          <p:cNvSpPr/>
          <p:nvPr/>
        </p:nvSpPr>
        <p:spPr>
          <a:xfrm>
            <a:off x="7004304" y="3566160"/>
            <a:ext cx="2560320" cy="237744"/>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API 토큰 소비량 기준</a:t>
            </a:r>
            <a:endParaRPr lang="en-US" sz="1100" dirty="0"/>
          </a:p>
        </p:txBody>
      </p:sp>
      <p:sp>
        <p:nvSpPr>
          <p:cNvPr id="45" name="Shape 43"/>
          <p:cNvSpPr/>
          <p:nvPr/>
        </p:nvSpPr>
        <p:spPr>
          <a:xfrm>
            <a:off x="9738360" y="3456432"/>
            <a:ext cx="1810512" cy="146304"/>
          </a:xfrm>
          <a:prstGeom prst="rect">
            <a:avLst/>
          </a:prstGeom>
          <a:solidFill>
            <a:srgbClr val="E0E0E0"/>
          </a:solidFill>
          <a:ln w="12700">
            <a:solidFill>
              <a:srgbClr val="E0E0E0"/>
            </a:solidFill>
            <a:prstDash val="solid"/>
          </a:ln>
        </p:spPr>
      </p:sp>
      <p:sp>
        <p:nvSpPr>
          <p:cNvPr id="46" name="Shape 44"/>
          <p:cNvSpPr/>
          <p:nvPr/>
        </p:nvSpPr>
        <p:spPr>
          <a:xfrm>
            <a:off x="9738360" y="3456432"/>
            <a:ext cx="1213043" cy="146304"/>
          </a:xfrm>
          <a:prstGeom prst="rect">
            <a:avLst/>
          </a:prstGeom>
          <a:solidFill>
            <a:srgbClr val="0066CC"/>
          </a:solidFill>
          <a:ln w="12700">
            <a:solidFill>
              <a:srgbClr val="0066CC"/>
            </a:solidFill>
            <a:prstDash val="solid"/>
          </a:ln>
        </p:spPr>
      </p:sp>
      <p:sp>
        <p:nvSpPr>
          <p:cNvPr id="47" name="Shape 45"/>
          <p:cNvSpPr/>
          <p:nvPr/>
        </p:nvSpPr>
        <p:spPr>
          <a:xfrm>
            <a:off x="6172200" y="3877056"/>
            <a:ext cx="5605272" cy="658368"/>
          </a:xfrm>
          <a:prstGeom prst="rect">
            <a:avLst/>
          </a:prstGeom>
          <a:solidFill>
            <a:srgbClr val="F5F5F7"/>
          </a:solidFill>
          <a:ln w="12700">
            <a:solidFill>
              <a:srgbClr val="E0E0E0"/>
            </a:solidFill>
            <a:prstDash val="solid"/>
          </a:ln>
        </p:spPr>
      </p:sp>
      <p:sp>
        <p:nvSpPr>
          <p:cNvPr id="48" name="Shape 46"/>
          <p:cNvSpPr/>
          <p:nvPr/>
        </p:nvSpPr>
        <p:spPr>
          <a:xfrm>
            <a:off x="6272784" y="4032504"/>
            <a:ext cx="640080" cy="274320"/>
          </a:xfrm>
          <a:prstGeom prst="roundRect">
            <a:avLst>
              <a:gd name="adj" fmla="val 55000"/>
            </a:avLst>
          </a:prstGeom>
          <a:solidFill>
            <a:srgbClr val="0066CC"/>
          </a:solidFill>
          <a:ln w="12700">
            <a:solidFill>
              <a:srgbClr val="0066CC"/>
            </a:solidFill>
            <a:prstDash val="solid"/>
          </a:ln>
        </p:spPr>
      </p:sp>
      <p:sp>
        <p:nvSpPr>
          <p:cNvPr id="49" name="Text 47"/>
          <p:cNvSpPr/>
          <p:nvPr/>
        </p:nvSpPr>
        <p:spPr>
          <a:xfrm>
            <a:off x="6272784" y="4032504"/>
            <a:ext cx="640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0.10</a:t>
            </a:r>
            <a:endParaRPr lang="en-US" sz="1000" dirty="0"/>
          </a:p>
        </p:txBody>
      </p:sp>
      <p:sp>
        <p:nvSpPr>
          <p:cNvPr id="50" name="Text 48"/>
          <p:cNvSpPr/>
          <p:nvPr/>
        </p:nvSpPr>
        <p:spPr>
          <a:xfrm>
            <a:off x="7004304" y="3950208"/>
            <a:ext cx="2560320" cy="256032"/>
          </a:xfrm>
          <a:prstGeom prst="rect">
            <a:avLst/>
          </a:prstGeom>
          <a:noFill/>
          <a:ln/>
        </p:spPr>
        <p:txBody>
          <a:bodyPr wrap="square" lIns="0" tIns="0" rIns="0" bIns="0" rtlCol="0" anchor="ctr"/>
          <a:lstStyle/>
          <a:p>
            <a:pPr algn="l" indent="0" marL="0">
              <a:buNone/>
            </a:pPr>
            <a:r>
              <a:rPr lang="en-US" sz="1300" dirty="0">
                <a:solidFill>
                  <a:srgbClr val="1D1D1F"/>
                </a:solidFill>
                <a:latin typeface="Pretendard SemiBold" pitchFamily="34" charset="0"/>
                <a:ea typeface="Pretendard SemiBold" pitchFamily="34" charset="-122"/>
                <a:cs typeface="Pretendard SemiBold" pitchFamily="34" charset="-120"/>
              </a:rPr>
              <a:t>속도/안정성</a:t>
            </a:r>
            <a:endParaRPr lang="en-US" sz="1300" dirty="0"/>
          </a:p>
        </p:txBody>
      </p:sp>
      <p:sp>
        <p:nvSpPr>
          <p:cNvPr id="51" name="Text 49"/>
          <p:cNvSpPr/>
          <p:nvPr/>
        </p:nvSpPr>
        <p:spPr>
          <a:xfrm>
            <a:off x="7004304" y="4224528"/>
            <a:ext cx="2560320" cy="237744"/>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응답 속도 및 안정성</a:t>
            </a:r>
            <a:endParaRPr lang="en-US" sz="1100" dirty="0"/>
          </a:p>
        </p:txBody>
      </p:sp>
      <p:sp>
        <p:nvSpPr>
          <p:cNvPr id="52" name="Shape 50"/>
          <p:cNvSpPr/>
          <p:nvPr/>
        </p:nvSpPr>
        <p:spPr>
          <a:xfrm>
            <a:off x="9738360" y="4114800"/>
            <a:ext cx="1810512" cy="146304"/>
          </a:xfrm>
          <a:prstGeom prst="rect">
            <a:avLst/>
          </a:prstGeom>
          <a:solidFill>
            <a:srgbClr val="E0E0E0"/>
          </a:solidFill>
          <a:ln w="12700">
            <a:solidFill>
              <a:srgbClr val="E0E0E0"/>
            </a:solidFill>
            <a:prstDash val="solid"/>
          </a:ln>
        </p:spPr>
      </p:sp>
      <p:sp>
        <p:nvSpPr>
          <p:cNvPr id="53" name="Shape 51"/>
          <p:cNvSpPr/>
          <p:nvPr/>
        </p:nvSpPr>
        <p:spPr>
          <a:xfrm>
            <a:off x="9738360" y="4114800"/>
            <a:ext cx="597469" cy="146304"/>
          </a:xfrm>
          <a:prstGeom prst="rect">
            <a:avLst/>
          </a:prstGeom>
          <a:solidFill>
            <a:srgbClr val="0066CC"/>
          </a:solidFill>
          <a:ln w="12700">
            <a:solidFill>
              <a:srgbClr val="0066CC"/>
            </a:solidFill>
            <a:prstDash val="solid"/>
          </a:ln>
        </p:spPr>
      </p:sp>
      <p:sp>
        <p:nvSpPr>
          <p:cNvPr id="54" name="Shape 52"/>
          <p:cNvSpPr/>
          <p:nvPr/>
        </p:nvSpPr>
        <p:spPr>
          <a:xfrm>
            <a:off x="6172200" y="4535424"/>
            <a:ext cx="5605272" cy="658368"/>
          </a:xfrm>
          <a:prstGeom prst="rect">
            <a:avLst/>
          </a:prstGeom>
          <a:solidFill>
            <a:srgbClr val="FFFFFF"/>
          </a:solidFill>
          <a:ln w="12700">
            <a:solidFill>
              <a:srgbClr val="E0E0E0"/>
            </a:solidFill>
            <a:prstDash val="solid"/>
          </a:ln>
        </p:spPr>
      </p:sp>
      <p:sp>
        <p:nvSpPr>
          <p:cNvPr id="55" name="Shape 53"/>
          <p:cNvSpPr/>
          <p:nvPr/>
        </p:nvSpPr>
        <p:spPr>
          <a:xfrm>
            <a:off x="6272784" y="4690872"/>
            <a:ext cx="640080" cy="274320"/>
          </a:xfrm>
          <a:prstGeom prst="roundRect">
            <a:avLst>
              <a:gd name="adj" fmla="val 55000"/>
            </a:avLst>
          </a:prstGeom>
          <a:solidFill>
            <a:srgbClr val="0066CC"/>
          </a:solidFill>
          <a:ln w="12700">
            <a:solidFill>
              <a:srgbClr val="0066CC"/>
            </a:solidFill>
            <a:prstDash val="solid"/>
          </a:ln>
        </p:spPr>
      </p:sp>
      <p:sp>
        <p:nvSpPr>
          <p:cNvPr id="56" name="Text 54"/>
          <p:cNvSpPr/>
          <p:nvPr/>
        </p:nvSpPr>
        <p:spPr>
          <a:xfrm>
            <a:off x="6272784" y="4690872"/>
            <a:ext cx="640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0.20</a:t>
            </a:r>
            <a:endParaRPr lang="en-US" sz="1000" dirty="0"/>
          </a:p>
        </p:txBody>
      </p:sp>
      <p:sp>
        <p:nvSpPr>
          <p:cNvPr id="57" name="Text 55"/>
          <p:cNvSpPr/>
          <p:nvPr/>
        </p:nvSpPr>
        <p:spPr>
          <a:xfrm>
            <a:off x="7004304" y="4608576"/>
            <a:ext cx="2560320" cy="256032"/>
          </a:xfrm>
          <a:prstGeom prst="rect">
            <a:avLst/>
          </a:prstGeom>
          <a:noFill/>
          <a:ln/>
        </p:spPr>
        <p:txBody>
          <a:bodyPr wrap="square" lIns="0" tIns="0" rIns="0" bIns="0" rtlCol="0" anchor="ctr"/>
          <a:lstStyle/>
          <a:p>
            <a:pPr algn="l" indent="0" marL="0">
              <a:buNone/>
            </a:pPr>
            <a:r>
              <a:rPr lang="en-US" sz="1300" dirty="0">
                <a:solidFill>
                  <a:srgbClr val="1D1D1F"/>
                </a:solidFill>
                <a:latin typeface="Pretendard SemiBold" pitchFamily="34" charset="0"/>
                <a:ea typeface="Pretendard SemiBold" pitchFamily="34" charset="-122"/>
                <a:cs typeface="Pretendard SemiBold" pitchFamily="34" charset="-120"/>
              </a:rPr>
              <a:t>적극성</a:t>
            </a:r>
            <a:endParaRPr lang="en-US" sz="1300" dirty="0"/>
          </a:p>
        </p:txBody>
      </p:sp>
      <p:sp>
        <p:nvSpPr>
          <p:cNvPr id="58" name="Text 56"/>
          <p:cNvSpPr/>
          <p:nvPr/>
        </p:nvSpPr>
        <p:spPr>
          <a:xfrm>
            <a:off x="7004304" y="4882896"/>
            <a:ext cx="2560320" cy="237744"/>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대안 제시 · 추가 질문 여부</a:t>
            </a:r>
            <a:endParaRPr lang="en-US" sz="1100" dirty="0"/>
          </a:p>
        </p:txBody>
      </p:sp>
      <p:sp>
        <p:nvSpPr>
          <p:cNvPr id="59" name="Shape 57"/>
          <p:cNvSpPr/>
          <p:nvPr/>
        </p:nvSpPr>
        <p:spPr>
          <a:xfrm>
            <a:off x="9738360" y="4773168"/>
            <a:ext cx="1810512" cy="146304"/>
          </a:xfrm>
          <a:prstGeom prst="rect">
            <a:avLst/>
          </a:prstGeom>
          <a:solidFill>
            <a:srgbClr val="E0E0E0"/>
          </a:solidFill>
          <a:ln w="12700">
            <a:solidFill>
              <a:srgbClr val="E0E0E0"/>
            </a:solidFill>
            <a:prstDash val="solid"/>
          </a:ln>
        </p:spPr>
      </p:sp>
      <p:sp>
        <p:nvSpPr>
          <p:cNvPr id="60" name="Shape 58"/>
          <p:cNvSpPr/>
          <p:nvPr/>
        </p:nvSpPr>
        <p:spPr>
          <a:xfrm>
            <a:off x="9738360" y="4773168"/>
            <a:ext cx="1213043" cy="146304"/>
          </a:xfrm>
          <a:prstGeom prst="rect">
            <a:avLst/>
          </a:prstGeom>
          <a:solidFill>
            <a:srgbClr val="0066CC"/>
          </a:solidFill>
          <a:ln w="12700">
            <a:solidFill>
              <a:srgbClr val="0066CC"/>
            </a:solidFill>
            <a:prstDash val="solid"/>
          </a:ln>
        </p:spPr>
      </p:sp>
      <p:sp>
        <p:nvSpPr>
          <p:cNvPr id="61" name="Text 59"/>
          <p:cNvSpPr/>
          <p:nvPr/>
        </p:nvSpPr>
        <p:spPr>
          <a:xfrm>
            <a:off x="6172200" y="5248656"/>
            <a:ext cx="5605272" cy="256032"/>
          </a:xfrm>
          <a:prstGeom prst="rect">
            <a:avLst/>
          </a:prstGeom>
          <a:noFill/>
          <a:ln/>
        </p:spPr>
        <p:txBody>
          <a:bodyPr wrap="square" lIns="0" tIns="0" rIns="0" bIns="0" rtlCol="0" anchor="ctr"/>
          <a:lstStyle/>
          <a:p>
            <a:pPr algn="r" indent="0" marL="0">
              <a:buNone/>
            </a:pPr>
            <a:r>
              <a:rPr lang="en-US" sz="1200" dirty="0">
                <a:solidFill>
                  <a:srgbClr val="0066CC"/>
                </a:solidFill>
                <a:latin typeface="Pretendard SemiBold" pitchFamily="34" charset="0"/>
                <a:ea typeface="Pretendard SemiBold" pitchFamily="34" charset="-122"/>
                <a:cs typeface="Pretendard SemiBold" pitchFamily="34" charset="-120"/>
              </a:rPr>
              <a:t>∑ = 1.0</a:t>
            </a:r>
            <a:endParaRPr lang="en-US" sz="1200" dirty="0"/>
          </a:p>
        </p:txBody>
      </p:sp>
      <p:sp>
        <p:nvSpPr>
          <p:cNvPr id="62" name="Shape 60"/>
          <p:cNvSpPr/>
          <p:nvPr/>
        </p:nvSpPr>
        <p:spPr>
          <a:xfrm>
            <a:off x="0" y="6400800"/>
            <a:ext cx="12188952" cy="457200"/>
          </a:xfrm>
          <a:prstGeom prst="rect">
            <a:avLst/>
          </a:prstGeom>
          <a:solidFill>
            <a:srgbClr val="1D1D1F"/>
          </a:solidFill>
          <a:ln w="12700">
            <a:solidFill>
              <a:srgbClr val="1D1D1F"/>
            </a:solidFill>
            <a:prstDash val="solid"/>
          </a:ln>
        </p:spPr>
      </p:sp>
      <p:sp>
        <p:nvSpPr>
          <p:cNvPr id="63" name="Text 61"/>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가중순위결정법: 2안 비교로 1:1 평가 → 항목별 가중치 반영 → 모델별 합계 산출</a:t>
            </a:r>
            <a:endParaRPr lang="en-US" sz="1100" dirty="0"/>
          </a:p>
        </p:txBody>
      </p:sp>
      <p:sp>
        <p:nvSpPr>
          <p:cNvPr id="64" name="Text 62"/>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72729"/>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IV. 테스트 결과</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FFFFFF"/>
                </a:solidFill>
                <a:latin typeface="Pretendard Bold" pitchFamily="34" charset="0"/>
                <a:ea typeface="Pretendard Bold" pitchFamily="34" charset="-122"/>
                <a:cs typeface="Pretendard Bold" pitchFamily="34" charset="-120"/>
              </a:rPr>
              <a:t>모델별 결과 분석</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CCCCCC"/>
                </a:solidFill>
                <a:latin typeface="Pretendard Regular" pitchFamily="34" charset="0"/>
                <a:ea typeface="Pretendard Regular" pitchFamily="34" charset="-122"/>
                <a:cs typeface="Pretendard Regular" pitchFamily="34" charset="-120"/>
              </a:rPr>
              <a:t>메일 작성 과업 수행 결과 — 표현력 · 형식 준수 · 적극성 중심 비교</a:t>
            </a:r>
            <a:endParaRPr lang="en-US" sz="1500" dirty="0"/>
          </a:p>
        </p:txBody>
      </p:sp>
      <p:sp>
        <p:nvSpPr>
          <p:cNvPr id="5" name="Shape 3"/>
          <p:cNvSpPr/>
          <p:nvPr/>
        </p:nvSpPr>
        <p:spPr>
          <a:xfrm>
            <a:off x="502920" y="1353312"/>
            <a:ext cx="11183112" cy="0"/>
          </a:xfrm>
          <a:prstGeom prst="line">
            <a:avLst/>
          </a:prstGeom>
          <a:noFill/>
          <a:ln w="12700">
            <a:solidFill>
              <a:srgbClr val="3A3A3C"/>
            </a:solidFill>
            <a:prstDash val="solid"/>
          </a:ln>
        </p:spPr>
      </p:sp>
      <p:sp>
        <p:nvSpPr>
          <p:cNvPr id="6" name="Shape 4"/>
          <p:cNvSpPr/>
          <p:nvPr/>
        </p:nvSpPr>
        <p:spPr>
          <a:xfrm>
            <a:off x="502920" y="1536192"/>
            <a:ext cx="3456432" cy="4526280"/>
          </a:xfrm>
          <a:prstGeom prst="rect">
            <a:avLst/>
          </a:prstGeom>
          <a:solidFill>
            <a:srgbClr val="2A2A2C"/>
          </a:solidFill>
          <a:ln w="12700">
            <a:solidFill>
              <a:srgbClr val="3A3A3C"/>
            </a:solidFill>
            <a:prstDash val="solid"/>
          </a:ln>
        </p:spPr>
      </p:sp>
      <p:sp>
        <p:nvSpPr>
          <p:cNvPr id="7" name="Shape 5"/>
          <p:cNvSpPr/>
          <p:nvPr/>
        </p:nvSpPr>
        <p:spPr>
          <a:xfrm>
            <a:off x="502920" y="1536192"/>
            <a:ext cx="3456432" cy="54864"/>
          </a:xfrm>
          <a:prstGeom prst="rect">
            <a:avLst/>
          </a:prstGeom>
          <a:solidFill>
            <a:srgbClr val="4285F4"/>
          </a:solidFill>
          <a:ln w="12700">
            <a:solidFill>
              <a:srgbClr val="4285F4"/>
            </a:solidFill>
            <a:prstDash val="solid"/>
          </a:ln>
        </p:spPr>
      </p:sp>
      <p:sp>
        <p:nvSpPr>
          <p:cNvPr id="8" name="Text 6"/>
          <p:cNvSpPr/>
          <p:nvPr/>
        </p:nvSpPr>
        <p:spPr>
          <a:xfrm>
            <a:off x="704088" y="1700784"/>
            <a:ext cx="3054096" cy="329184"/>
          </a:xfrm>
          <a:prstGeom prst="rect">
            <a:avLst/>
          </a:prstGeom>
          <a:noFill/>
          <a:ln/>
        </p:spPr>
        <p:txBody>
          <a:bodyPr wrap="square" lIns="0" tIns="0" rIns="0" bIns="0" rtlCol="0" anchor="ctr"/>
          <a:lstStyle/>
          <a:p>
            <a:pPr algn="l" indent="0" marL="0">
              <a:buNone/>
            </a:pPr>
            <a:r>
              <a:rPr lang="en-US" sz="1700" dirty="0">
                <a:solidFill>
                  <a:srgbClr val="FFFFFF"/>
                </a:solidFill>
                <a:latin typeface="Pretendard ExtraBold" pitchFamily="34" charset="0"/>
                <a:ea typeface="Pretendard ExtraBold" pitchFamily="34" charset="-122"/>
                <a:cs typeface="Pretendard ExtraBold" pitchFamily="34" charset="-120"/>
              </a:rPr>
              <a:t>Gemini 3.1 Pro</a:t>
            </a:r>
            <a:endParaRPr lang="en-US" sz="1700" dirty="0"/>
          </a:p>
        </p:txBody>
      </p:sp>
      <p:sp>
        <p:nvSpPr>
          <p:cNvPr id="9" name="Text 7"/>
          <p:cNvSpPr/>
          <p:nvPr/>
        </p:nvSpPr>
        <p:spPr>
          <a:xfrm>
            <a:off x="704088" y="2066544"/>
            <a:ext cx="3054096" cy="274320"/>
          </a:xfrm>
          <a:prstGeom prst="rect">
            <a:avLst/>
          </a:prstGeom>
          <a:noFill/>
          <a:ln/>
        </p:spPr>
        <p:txBody>
          <a:bodyPr wrap="square" lIns="0" tIns="0" rIns="0" bIns="0" rtlCol="0" anchor="ctr"/>
          <a:lstStyle/>
          <a:p>
            <a:pPr algn="l" indent="0" marL="0">
              <a:buNone/>
            </a:pPr>
            <a:r>
              <a:rPr lang="en-US" sz="1700" dirty="0">
                <a:solidFill>
                  <a:srgbClr val="4285F4"/>
                </a:solidFill>
                <a:latin typeface="Pretendard Regular" pitchFamily="34" charset="0"/>
                <a:ea typeface="Pretendard Regular" pitchFamily="34" charset="-122"/>
                <a:cs typeface="Pretendard Regular" pitchFamily="34" charset="-120"/>
              </a:rPr>
              <a:t>★★★</a:t>
            </a:r>
            <a:endParaRPr lang="en-US" sz="1700" dirty="0"/>
          </a:p>
        </p:txBody>
      </p:sp>
      <p:sp>
        <p:nvSpPr>
          <p:cNvPr id="10" name="Shape 8"/>
          <p:cNvSpPr/>
          <p:nvPr/>
        </p:nvSpPr>
        <p:spPr>
          <a:xfrm>
            <a:off x="704088" y="2414016"/>
            <a:ext cx="3054096" cy="0"/>
          </a:xfrm>
          <a:prstGeom prst="line">
            <a:avLst/>
          </a:prstGeom>
          <a:noFill/>
          <a:ln w="12700">
            <a:solidFill>
              <a:srgbClr val="3A3A3C"/>
            </a:solidFill>
            <a:prstDash val="solid"/>
          </a:ln>
        </p:spPr>
      </p:sp>
      <p:sp>
        <p:nvSpPr>
          <p:cNvPr id="11" name="Shape 9"/>
          <p:cNvSpPr/>
          <p:nvPr/>
        </p:nvSpPr>
        <p:spPr>
          <a:xfrm>
            <a:off x="704088" y="2560320"/>
            <a:ext cx="3054096" cy="950976"/>
          </a:xfrm>
          <a:prstGeom prst="rect">
            <a:avLst/>
          </a:prstGeom>
          <a:solidFill>
            <a:srgbClr val="2F2F31"/>
          </a:solidFill>
          <a:ln w="12700">
            <a:solidFill>
              <a:srgbClr val="3A3A3C"/>
            </a:solidFill>
            <a:prstDash val="solid"/>
          </a:ln>
        </p:spPr>
      </p:sp>
      <p:sp>
        <p:nvSpPr>
          <p:cNvPr id="12" name="Text 10"/>
          <p:cNvSpPr/>
          <p:nvPr/>
        </p:nvSpPr>
        <p:spPr>
          <a:xfrm>
            <a:off x="795528" y="2615184"/>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성적 관련 예민한 문의임을</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최대한 조심스럽게 접근</a:t>
            </a:r>
            <a:endParaRPr lang="en-US" sz="1200" dirty="0"/>
          </a:p>
        </p:txBody>
      </p:sp>
      <p:sp>
        <p:nvSpPr>
          <p:cNvPr id="13" name="Shape 11"/>
          <p:cNvSpPr/>
          <p:nvPr/>
        </p:nvSpPr>
        <p:spPr>
          <a:xfrm>
            <a:off x="704088" y="3675888"/>
            <a:ext cx="3054096" cy="950976"/>
          </a:xfrm>
          <a:prstGeom prst="rect">
            <a:avLst/>
          </a:prstGeom>
          <a:solidFill>
            <a:srgbClr val="2F2F31"/>
          </a:solidFill>
          <a:ln w="12700">
            <a:solidFill>
              <a:srgbClr val="3A3A3C"/>
            </a:solidFill>
            <a:prstDash val="solid"/>
          </a:ln>
        </p:spPr>
      </p:sp>
      <p:sp>
        <p:nvSpPr>
          <p:cNvPr id="14" name="Text 12"/>
          <p:cNvSpPr/>
          <p:nvPr/>
        </p:nvSpPr>
        <p:spPr>
          <a:xfrm>
            <a:off x="795528" y="3730752"/>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초안 완성 후 사용자에게</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추가 질문 3개 제시</a:t>
            </a:r>
            <a:endParaRPr lang="en-US" sz="1200" dirty="0"/>
          </a:p>
        </p:txBody>
      </p:sp>
      <p:sp>
        <p:nvSpPr>
          <p:cNvPr id="15" name="Shape 13"/>
          <p:cNvSpPr/>
          <p:nvPr/>
        </p:nvSpPr>
        <p:spPr>
          <a:xfrm>
            <a:off x="704088" y="4791456"/>
            <a:ext cx="3054096" cy="950976"/>
          </a:xfrm>
          <a:prstGeom prst="rect">
            <a:avLst/>
          </a:prstGeom>
          <a:solidFill>
            <a:srgbClr val="2F2F31"/>
          </a:solidFill>
          <a:ln w="12700">
            <a:solidFill>
              <a:srgbClr val="3A3A3C"/>
            </a:solidFill>
            <a:prstDash val="solid"/>
          </a:ln>
        </p:spPr>
      </p:sp>
      <p:sp>
        <p:nvSpPr>
          <p:cNvPr id="16" name="Text 14"/>
          <p:cNvSpPr/>
          <p:nvPr/>
        </p:nvSpPr>
        <p:spPr>
          <a:xfrm>
            <a:off x="795528" y="4846320"/>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가장 완성도 높은 상황 설명</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및 선택지 제공</a:t>
            </a:r>
            <a:endParaRPr lang="en-US" sz="1200" dirty="0"/>
          </a:p>
        </p:txBody>
      </p:sp>
      <p:sp>
        <p:nvSpPr>
          <p:cNvPr id="17" name="Shape 15"/>
          <p:cNvSpPr/>
          <p:nvPr/>
        </p:nvSpPr>
        <p:spPr>
          <a:xfrm>
            <a:off x="4142232" y="1536192"/>
            <a:ext cx="3456432" cy="4526280"/>
          </a:xfrm>
          <a:prstGeom prst="rect">
            <a:avLst/>
          </a:prstGeom>
          <a:solidFill>
            <a:srgbClr val="2A2A2C"/>
          </a:solidFill>
          <a:ln w="12700">
            <a:solidFill>
              <a:srgbClr val="3A3A3C"/>
            </a:solidFill>
            <a:prstDash val="solid"/>
          </a:ln>
        </p:spPr>
      </p:sp>
      <p:sp>
        <p:nvSpPr>
          <p:cNvPr id="18" name="Shape 16"/>
          <p:cNvSpPr/>
          <p:nvPr/>
        </p:nvSpPr>
        <p:spPr>
          <a:xfrm>
            <a:off x="4142232" y="1536192"/>
            <a:ext cx="3456432" cy="54864"/>
          </a:xfrm>
          <a:prstGeom prst="rect">
            <a:avLst/>
          </a:prstGeom>
          <a:solidFill>
            <a:srgbClr val="CF7A5E"/>
          </a:solidFill>
          <a:ln w="12700">
            <a:solidFill>
              <a:srgbClr val="CF7A5E"/>
            </a:solidFill>
            <a:prstDash val="solid"/>
          </a:ln>
        </p:spPr>
      </p:sp>
      <p:sp>
        <p:nvSpPr>
          <p:cNvPr id="19" name="Text 17"/>
          <p:cNvSpPr/>
          <p:nvPr/>
        </p:nvSpPr>
        <p:spPr>
          <a:xfrm>
            <a:off x="4343400" y="1700784"/>
            <a:ext cx="3054096" cy="329184"/>
          </a:xfrm>
          <a:prstGeom prst="rect">
            <a:avLst/>
          </a:prstGeom>
          <a:noFill/>
          <a:ln/>
        </p:spPr>
        <p:txBody>
          <a:bodyPr wrap="square" lIns="0" tIns="0" rIns="0" bIns="0" rtlCol="0" anchor="ctr"/>
          <a:lstStyle/>
          <a:p>
            <a:pPr algn="l" indent="0" marL="0">
              <a:buNone/>
            </a:pPr>
            <a:r>
              <a:rPr lang="en-US" sz="1700" dirty="0">
                <a:solidFill>
                  <a:srgbClr val="FFFFFF"/>
                </a:solidFill>
                <a:latin typeface="Pretendard ExtraBold" pitchFamily="34" charset="0"/>
                <a:ea typeface="Pretendard ExtraBold" pitchFamily="34" charset="-122"/>
                <a:cs typeface="Pretendard ExtraBold" pitchFamily="34" charset="-120"/>
              </a:rPr>
              <a:t>Claude Opus 4.8</a:t>
            </a:r>
            <a:endParaRPr lang="en-US" sz="1700" dirty="0"/>
          </a:p>
        </p:txBody>
      </p:sp>
      <p:sp>
        <p:nvSpPr>
          <p:cNvPr id="20" name="Text 18"/>
          <p:cNvSpPr/>
          <p:nvPr/>
        </p:nvSpPr>
        <p:spPr>
          <a:xfrm>
            <a:off x="4343400" y="2066544"/>
            <a:ext cx="3054096" cy="274320"/>
          </a:xfrm>
          <a:prstGeom prst="rect">
            <a:avLst/>
          </a:prstGeom>
          <a:noFill/>
          <a:ln/>
        </p:spPr>
        <p:txBody>
          <a:bodyPr wrap="square" lIns="0" tIns="0" rIns="0" bIns="0" rtlCol="0" anchor="ctr"/>
          <a:lstStyle/>
          <a:p>
            <a:pPr algn="l" indent="0" marL="0">
              <a:buNone/>
            </a:pPr>
            <a:r>
              <a:rPr lang="en-US" sz="1700" dirty="0">
                <a:solidFill>
                  <a:srgbClr val="CF7A5E"/>
                </a:solidFill>
                <a:latin typeface="Pretendard Regular" pitchFamily="34" charset="0"/>
                <a:ea typeface="Pretendard Regular" pitchFamily="34" charset="-122"/>
                <a:cs typeface="Pretendard Regular" pitchFamily="34" charset="-120"/>
              </a:rPr>
              <a:t>★★☆</a:t>
            </a:r>
            <a:endParaRPr lang="en-US" sz="1700" dirty="0"/>
          </a:p>
        </p:txBody>
      </p:sp>
      <p:sp>
        <p:nvSpPr>
          <p:cNvPr id="21" name="Shape 19"/>
          <p:cNvSpPr/>
          <p:nvPr/>
        </p:nvSpPr>
        <p:spPr>
          <a:xfrm>
            <a:off x="4343400" y="2414016"/>
            <a:ext cx="3054096" cy="0"/>
          </a:xfrm>
          <a:prstGeom prst="line">
            <a:avLst/>
          </a:prstGeom>
          <a:noFill/>
          <a:ln w="12700">
            <a:solidFill>
              <a:srgbClr val="3A3A3C"/>
            </a:solidFill>
            <a:prstDash val="solid"/>
          </a:ln>
        </p:spPr>
      </p:sp>
      <p:sp>
        <p:nvSpPr>
          <p:cNvPr id="22" name="Shape 20"/>
          <p:cNvSpPr/>
          <p:nvPr/>
        </p:nvSpPr>
        <p:spPr>
          <a:xfrm>
            <a:off x="4343400" y="2560320"/>
            <a:ext cx="3054096" cy="950976"/>
          </a:xfrm>
          <a:prstGeom prst="rect">
            <a:avLst/>
          </a:prstGeom>
          <a:solidFill>
            <a:srgbClr val="2F2F31"/>
          </a:solidFill>
          <a:ln w="12700">
            <a:solidFill>
              <a:srgbClr val="3A3A3C"/>
            </a:solidFill>
            <a:prstDash val="solid"/>
          </a:ln>
        </p:spPr>
      </p:sp>
      <p:sp>
        <p:nvSpPr>
          <p:cNvPr id="23" name="Text 21"/>
          <p:cNvSpPr/>
          <p:nvPr/>
        </p:nvSpPr>
        <p:spPr>
          <a:xfrm>
            <a:off x="4434840" y="2615184"/>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사고 과정 미출력 —</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결과물을 바로 제시</a:t>
            </a:r>
            <a:endParaRPr lang="en-US" sz="1200" dirty="0"/>
          </a:p>
        </p:txBody>
      </p:sp>
      <p:sp>
        <p:nvSpPr>
          <p:cNvPr id="24" name="Shape 22"/>
          <p:cNvSpPr/>
          <p:nvPr/>
        </p:nvSpPr>
        <p:spPr>
          <a:xfrm>
            <a:off x="4343400" y="3675888"/>
            <a:ext cx="3054096" cy="950976"/>
          </a:xfrm>
          <a:prstGeom prst="rect">
            <a:avLst/>
          </a:prstGeom>
          <a:solidFill>
            <a:srgbClr val="2F2F31"/>
          </a:solidFill>
          <a:ln w="12700">
            <a:solidFill>
              <a:srgbClr val="3A3A3C"/>
            </a:solidFill>
            <a:prstDash val="solid"/>
          </a:ln>
        </p:spPr>
      </p:sp>
      <p:sp>
        <p:nvSpPr>
          <p:cNvPr id="25" name="Text 23"/>
          <p:cNvSpPr/>
          <p:nvPr/>
        </p:nvSpPr>
        <p:spPr>
          <a:xfrm>
            <a:off x="4434840" y="3730752"/>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Gemini와 동일하게</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추가 질문 2개 제시</a:t>
            </a:r>
            <a:endParaRPr lang="en-US" sz="1200" dirty="0"/>
          </a:p>
        </p:txBody>
      </p:sp>
      <p:sp>
        <p:nvSpPr>
          <p:cNvPr id="26" name="Shape 24"/>
          <p:cNvSpPr/>
          <p:nvPr/>
        </p:nvSpPr>
        <p:spPr>
          <a:xfrm>
            <a:off x="4343400" y="4791456"/>
            <a:ext cx="3054096" cy="950976"/>
          </a:xfrm>
          <a:prstGeom prst="rect">
            <a:avLst/>
          </a:prstGeom>
          <a:solidFill>
            <a:srgbClr val="2F2F31"/>
          </a:solidFill>
          <a:ln w="12700">
            <a:solidFill>
              <a:srgbClr val="3A3A3C"/>
            </a:solidFill>
            <a:prstDash val="solid"/>
          </a:ln>
        </p:spPr>
      </p:sp>
      <p:sp>
        <p:nvSpPr>
          <p:cNvPr id="27" name="Text 25"/>
          <p:cNvSpPr/>
          <p:nvPr/>
        </p:nvSpPr>
        <p:spPr>
          <a:xfrm>
            <a:off x="4434840" y="4846320"/>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상황 설명이 Gemini 대비</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다소 빈약</a:t>
            </a:r>
            <a:endParaRPr lang="en-US" sz="1200" dirty="0"/>
          </a:p>
        </p:txBody>
      </p:sp>
      <p:sp>
        <p:nvSpPr>
          <p:cNvPr id="28" name="Shape 26"/>
          <p:cNvSpPr/>
          <p:nvPr/>
        </p:nvSpPr>
        <p:spPr>
          <a:xfrm>
            <a:off x="7781544" y="1536192"/>
            <a:ext cx="3456432" cy="4526280"/>
          </a:xfrm>
          <a:prstGeom prst="rect">
            <a:avLst/>
          </a:prstGeom>
          <a:solidFill>
            <a:srgbClr val="2A2A2C"/>
          </a:solidFill>
          <a:ln w="12700">
            <a:solidFill>
              <a:srgbClr val="3A3A3C"/>
            </a:solidFill>
            <a:prstDash val="solid"/>
          </a:ln>
        </p:spPr>
      </p:sp>
      <p:sp>
        <p:nvSpPr>
          <p:cNvPr id="29" name="Shape 27"/>
          <p:cNvSpPr/>
          <p:nvPr/>
        </p:nvSpPr>
        <p:spPr>
          <a:xfrm>
            <a:off x="7781544" y="1536192"/>
            <a:ext cx="3456432" cy="54864"/>
          </a:xfrm>
          <a:prstGeom prst="rect">
            <a:avLst/>
          </a:prstGeom>
          <a:solidFill>
            <a:srgbClr val="10A37F"/>
          </a:solidFill>
          <a:ln w="12700">
            <a:solidFill>
              <a:srgbClr val="10A37F"/>
            </a:solidFill>
            <a:prstDash val="solid"/>
          </a:ln>
        </p:spPr>
      </p:sp>
      <p:sp>
        <p:nvSpPr>
          <p:cNvPr id="30" name="Text 28"/>
          <p:cNvSpPr/>
          <p:nvPr/>
        </p:nvSpPr>
        <p:spPr>
          <a:xfrm>
            <a:off x="7982712" y="1700784"/>
            <a:ext cx="3054096" cy="329184"/>
          </a:xfrm>
          <a:prstGeom prst="rect">
            <a:avLst/>
          </a:prstGeom>
          <a:noFill/>
          <a:ln/>
        </p:spPr>
        <p:txBody>
          <a:bodyPr wrap="square" lIns="0" tIns="0" rIns="0" bIns="0" rtlCol="0" anchor="ctr"/>
          <a:lstStyle/>
          <a:p>
            <a:pPr algn="l" indent="0" marL="0">
              <a:buNone/>
            </a:pPr>
            <a:r>
              <a:rPr lang="en-US" sz="1700" dirty="0">
                <a:solidFill>
                  <a:srgbClr val="FFFFFF"/>
                </a:solidFill>
                <a:latin typeface="Pretendard ExtraBold" pitchFamily="34" charset="0"/>
                <a:ea typeface="Pretendard ExtraBold" pitchFamily="34" charset="-122"/>
                <a:cs typeface="Pretendard ExtraBold" pitchFamily="34" charset="-120"/>
              </a:rPr>
              <a:t>GPT-5.5</a:t>
            </a:r>
            <a:endParaRPr lang="en-US" sz="1700" dirty="0"/>
          </a:p>
        </p:txBody>
      </p:sp>
      <p:sp>
        <p:nvSpPr>
          <p:cNvPr id="31" name="Text 29"/>
          <p:cNvSpPr/>
          <p:nvPr/>
        </p:nvSpPr>
        <p:spPr>
          <a:xfrm>
            <a:off x="7982712" y="2066544"/>
            <a:ext cx="3054096" cy="274320"/>
          </a:xfrm>
          <a:prstGeom prst="rect">
            <a:avLst/>
          </a:prstGeom>
          <a:noFill/>
          <a:ln/>
        </p:spPr>
        <p:txBody>
          <a:bodyPr wrap="square" lIns="0" tIns="0" rIns="0" bIns="0" rtlCol="0" anchor="ctr"/>
          <a:lstStyle/>
          <a:p>
            <a:pPr algn="l" indent="0" marL="0">
              <a:buNone/>
            </a:pPr>
            <a:r>
              <a:rPr lang="en-US" sz="1700" dirty="0">
                <a:solidFill>
                  <a:srgbClr val="10A37F"/>
                </a:solidFill>
                <a:latin typeface="Pretendard Regular" pitchFamily="34" charset="0"/>
                <a:ea typeface="Pretendard Regular" pitchFamily="34" charset="-122"/>
                <a:cs typeface="Pretendard Regular" pitchFamily="34" charset="-120"/>
              </a:rPr>
              <a:t>★☆☆</a:t>
            </a:r>
            <a:endParaRPr lang="en-US" sz="1700" dirty="0"/>
          </a:p>
        </p:txBody>
      </p:sp>
      <p:sp>
        <p:nvSpPr>
          <p:cNvPr id="32" name="Shape 30"/>
          <p:cNvSpPr/>
          <p:nvPr/>
        </p:nvSpPr>
        <p:spPr>
          <a:xfrm>
            <a:off x="7982712" y="2414016"/>
            <a:ext cx="3054096" cy="0"/>
          </a:xfrm>
          <a:prstGeom prst="line">
            <a:avLst/>
          </a:prstGeom>
          <a:noFill/>
          <a:ln w="12700">
            <a:solidFill>
              <a:srgbClr val="3A3A3C"/>
            </a:solidFill>
            <a:prstDash val="solid"/>
          </a:ln>
        </p:spPr>
      </p:sp>
      <p:sp>
        <p:nvSpPr>
          <p:cNvPr id="33" name="Shape 31"/>
          <p:cNvSpPr/>
          <p:nvPr/>
        </p:nvSpPr>
        <p:spPr>
          <a:xfrm>
            <a:off x="7982712" y="2560320"/>
            <a:ext cx="3054096" cy="950976"/>
          </a:xfrm>
          <a:prstGeom prst="rect">
            <a:avLst/>
          </a:prstGeom>
          <a:solidFill>
            <a:srgbClr val="2F2F31"/>
          </a:solidFill>
          <a:ln w="12700">
            <a:solidFill>
              <a:srgbClr val="3A3A3C"/>
            </a:solidFill>
            <a:prstDash val="solid"/>
          </a:ln>
        </p:spPr>
      </p:sp>
      <p:sp>
        <p:nvSpPr>
          <p:cNvPr id="34" name="Text 32"/>
          <p:cNvSpPr/>
          <p:nvPr/>
        </p:nvSpPr>
        <p:spPr>
          <a:xfrm>
            <a:off x="8074152" y="2615184"/>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추가 질문 없이</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결과만 즉시 출력</a:t>
            </a:r>
            <a:endParaRPr lang="en-US" sz="1200" dirty="0"/>
          </a:p>
        </p:txBody>
      </p:sp>
      <p:sp>
        <p:nvSpPr>
          <p:cNvPr id="35" name="Shape 33"/>
          <p:cNvSpPr/>
          <p:nvPr/>
        </p:nvSpPr>
        <p:spPr>
          <a:xfrm>
            <a:off x="7982712" y="3675888"/>
            <a:ext cx="3054096" cy="950976"/>
          </a:xfrm>
          <a:prstGeom prst="rect">
            <a:avLst/>
          </a:prstGeom>
          <a:solidFill>
            <a:srgbClr val="2F2F31"/>
          </a:solidFill>
          <a:ln w="12700">
            <a:solidFill>
              <a:srgbClr val="3A3A3C"/>
            </a:solidFill>
            <a:prstDash val="solid"/>
          </a:ln>
        </p:spPr>
      </p:sp>
      <p:sp>
        <p:nvSpPr>
          <p:cNvPr id="36" name="Text 34"/>
          <p:cNvSpPr/>
          <p:nvPr/>
        </p:nvSpPr>
        <p:spPr>
          <a:xfrm>
            <a:off x="8074152" y="3730752"/>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경어체 활용 양호,</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출력 속도 가장 빠름</a:t>
            </a:r>
            <a:endParaRPr lang="en-US" sz="1200" dirty="0"/>
          </a:p>
        </p:txBody>
      </p:sp>
      <p:sp>
        <p:nvSpPr>
          <p:cNvPr id="37" name="Shape 35"/>
          <p:cNvSpPr/>
          <p:nvPr/>
        </p:nvSpPr>
        <p:spPr>
          <a:xfrm>
            <a:off x="7982712" y="4791456"/>
            <a:ext cx="3054096" cy="950976"/>
          </a:xfrm>
          <a:prstGeom prst="rect">
            <a:avLst/>
          </a:prstGeom>
          <a:solidFill>
            <a:srgbClr val="2F2F31"/>
          </a:solidFill>
          <a:ln w="12700">
            <a:solidFill>
              <a:srgbClr val="3A3A3C"/>
            </a:solidFill>
            <a:prstDash val="solid"/>
          </a:ln>
        </p:spPr>
      </p:sp>
      <p:sp>
        <p:nvSpPr>
          <p:cNvPr id="38" name="Text 36"/>
          <p:cNvSpPr/>
          <p:nvPr/>
        </p:nvSpPr>
        <p:spPr>
          <a:xfrm>
            <a:off x="8074152" y="4846320"/>
            <a:ext cx="2871216" cy="841248"/>
          </a:xfrm>
          <a:prstGeom prst="rect">
            <a:avLst/>
          </a:prstGeom>
          <a:noFill/>
          <a:ln/>
        </p:spPr>
        <p:txBody>
          <a:bodyPr wrap="square" lIns="0" tIns="0" rIns="0" bIns="0" rtlCol="0" anchor="ctr"/>
          <a:lstStyle/>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대학생 입장을 충분히</a:t>
            </a:r>
            <a:endParaRPr lang="en-US" sz="1200" dirty="0"/>
          </a:p>
          <a:p>
            <a:pPr algn="l" indent="0" marL="0">
              <a:lnSpc>
                <a:spcPct val="145000"/>
              </a:lnSpc>
              <a:buNone/>
            </a:pPr>
            <a:r>
              <a:rPr lang="en-US" sz="1200" dirty="0">
                <a:solidFill>
                  <a:srgbClr val="CCCCCC"/>
                </a:solidFill>
                <a:latin typeface="Pretendard Regular" pitchFamily="34" charset="0"/>
                <a:ea typeface="Pretendard Regular" pitchFamily="34" charset="-122"/>
                <a:cs typeface="Pretendard Regular" pitchFamily="34" charset="-120"/>
              </a:rPr>
              <a:t>반영하지 못한 본문</a:t>
            </a:r>
            <a:endParaRPr lang="en-US" sz="1200" dirty="0"/>
          </a:p>
        </p:txBody>
      </p:sp>
      <p:sp>
        <p:nvSpPr>
          <p:cNvPr id="39" name="Shape 37"/>
          <p:cNvSpPr/>
          <p:nvPr/>
        </p:nvSpPr>
        <p:spPr>
          <a:xfrm>
            <a:off x="0" y="6400800"/>
            <a:ext cx="12188952" cy="457200"/>
          </a:xfrm>
          <a:prstGeom prst="rect">
            <a:avLst/>
          </a:prstGeom>
          <a:solidFill>
            <a:srgbClr val="1D1D1F"/>
          </a:solidFill>
          <a:ln w="12700">
            <a:solidFill>
              <a:srgbClr val="1D1D1F"/>
            </a:solidFill>
            <a:prstDash val="solid"/>
          </a:ln>
        </p:spPr>
      </p:sp>
      <p:sp>
        <p:nvSpPr>
          <p:cNvPr id="40" name="Text 38"/>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상황 파악 능력과 추가 정보 요청 여부 — Gemini와 Claude 공통적으로 사용자에게 질문 제시</a:t>
            </a:r>
            <a:endParaRPr lang="en-US" sz="1100" dirty="0"/>
          </a:p>
        </p:txBody>
      </p:sp>
      <p:sp>
        <p:nvSpPr>
          <p:cNvPr id="41" name="Text 39"/>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IV. 결과 요약</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1D1D1F"/>
                </a:solidFill>
                <a:latin typeface="Pretendard Bold" pitchFamily="34" charset="0"/>
                <a:ea typeface="Pretendard Bold" pitchFamily="34" charset="-122"/>
                <a:cs typeface="Pretendard Bold" pitchFamily="34" charset="-120"/>
              </a:rPr>
              <a:t>토큰 소비량 비교</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6B7280"/>
                </a:solidFill>
                <a:latin typeface="Pretendard Regular" pitchFamily="34" charset="0"/>
                <a:ea typeface="Pretendard Regular" pitchFamily="34" charset="-122"/>
                <a:cs typeface="Pretendard Regular" pitchFamily="34" charset="-120"/>
              </a:rPr>
              <a:t>API 환경 기준 — 비용 효율성과 출력 품질의 상관관계</a:t>
            </a:r>
            <a:endParaRPr lang="en-US" sz="1500" dirty="0"/>
          </a:p>
        </p:txBody>
      </p:sp>
      <p:sp>
        <p:nvSpPr>
          <p:cNvPr id="5" name="Shape 3"/>
          <p:cNvSpPr/>
          <p:nvPr/>
        </p:nvSpPr>
        <p:spPr>
          <a:xfrm>
            <a:off x="502920" y="1353312"/>
            <a:ext cx="11183112" cy="0"/>
          </a:xfrm>
          <a:prstGeom prst="line">
            <a:avLst/>
          </a:prstGeom>
          <a:noFill/>
          <a:ln w="12700">
            <a:solidFill>
              <a:srgbClr val="E0E0E0"/>
            </a:solidFill>
            <a:prstDash val="solid"/>
          </a:ln>
        </p:spPr>
      </p:sp>
      <p:sp>
        <p:nvSpPr>
          <p:cNvPr id="6" name="Shape 4"/>
          <p:cNvSpPr/>
          <p:nvPr/>
        </p:nvSpPr>
        <p:spPr>
          <a:xfrm>
            <a:off x="502920" y="1536192"/>
            <a:ext cx="3456432" cy="1993392"/>
          </a:xfrm>
          <a:prstGeom prst="rect">
            <a:avLst/>
          </a:prstGeom>
          <a:solidFill>
            <a:srgbClr val="F5F5F7"/>
          </a:solidFill>
          <a:ln w="12700">
            <a:solidFill>
              <a:srgbClr val="E0E0E0"/>
            </a:solidFill>
            <a:prstDash val="solid"/>
          </a:ln>
        </p:spPr>
      </p:sp>
      <p:sp>
        <p:nvSpPr>
          <p:cNvPr id="7" name="Shape 5"/>
          <p:cNvSpPr/>
          <p:nvPr/>
        </p:nvSpPr>
        <p:spPr>
          <a:xfrm>
            <a:off x="502920" y="1536192"/>
            <a:ext cx="3456432" cy="54864"/>
          </a:xfrm>
          <a:prstGeom prst="rect">
            <a:avLst/>
          </a:prstGeom>
          <a:solidFill>
            <a:srgbClr val="4285F4"/>
          </a:solidFill>
          <a:ln w="12700">
            <a:solidFill>
              <a:srgbClr val="4285F4"/>
            </a:solidFill>
            <a:prstDash val="solid"/>
          </a:ln>
        </p:spPr>
      </p:sp>
      <p:sp>
        <p:nvSpPr>
          <p:cNvPr id="8" name="Shape 6"/>
          <p:cNvSpPr/>
          <p:nvPr/>
        </p:nvSpPr>
        <p:spPr>
          <a:xfrm>
            <a:off x="2999232" y="1627632"/>
            <a:ext cx="868680" cy="256032"/>
          </a:xfrm>
          <a:prstGeom prst="roundRect">
            <a:avLst>
              <a:gd name="adj" fmla="val 55000"/>
            </a:avLst>
          </a:prstGeom>
          <a:solidFill>
            <a:srgbClr val="4285F4"/>
          </a:solidFill>
          <a:ln w="12700">
            <a:solidFill>
              <a:srgbClr val="4285F4"/>
            </a:solidFill>
            <a:prstDash val="solid"/>
          </a:ln>
        </p:spPr>
      </p:sp>
      <p:sp>
        <p:nvSpPr>
          <p:cNvPr id="9" name="Text 7"/>
          <p:cNvSpPr/>
          <p:nvPr/>
        </p:nvSpPr>
        <p:spPr>
          <a:xfrm>
            <a:off x="2999232" y="1627632"/>
            <a:ext cx="868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비용 2위</a:t>
            </a:r>
            <a:endParaRPr lang="en-US" sz="1000" dirty="0"/>
          </a:p>
        </p:txBody>
      </p:sp>
      <p:sp>
        <p:nvSpPr>
          <p:cNvPr id="10" name="Text 8"/>
          <p:cNvSpPr/>
          <p:nvPr/>
        </p:nvSpPr>
        <p:spPr>
          <a:xfrm>
            <a:off x="704088" y="1664208"/>
            <a:ext cx="2221992"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Gemini 3.1 Pro</a:t>
            </a:r>
            <a:endParaRPr lang="en-US" sz="1100" dirty="0"/>
          </a:p>
        </p:txBody>
      </p:sp>
      <p:sp>
        <p:nvSpPr>
          <p:cNvPr id="11" name="Text 9"/>
          <p:cNvSpPr/>
          <p:nvPr/>
        </p:nvSpPr>
        <p:spPr>
          <a:xfrm>
            <a:off x="704088" y="1947672"/>
            <a:ext cx="3054096" cy="804672"/>
          </a:xfrm>
          <a:prstGeom prst="rect">
            <a:avLst/>
          </a:prstGeom>
          <a:noFill/>
          <a:ln/>
        </p:spPr>
        <p:txBody>
          <a:bodyPr wrap="square" lIns="0" tIns="0" rIns="0" bIns="0" rtlCol="0" anchor="ctr"/>
          <a:lstStyle/>
          <a:p>
            <a:pPr algn="l" indent="0" marL="0">
              <a:buNone/>
            </a:pPr>
            <a:r>
              <a:rPr lang="en-US" sz="5200" dirty="0">
                <a:solidFill>
                  <a:srgbClr val="4285F4"/>
                </a:solidFill>
                <a:latin typeface="Pretendard ExtraBold" pitchFamily="34" charset="0"/>
                <a:ea typeface="Pretendard ExtraBold" pitchFamily="34" charset="-122"/>
                <a:cs typeface="Pretendard ExtraBold" pitchFamily="34" charset="-120"/>
              </a:rPr>
              <a:t>1,509</a:t>
            </a:r>
            <a:endParaRPr lang="en-US" sz="5200" dirty="0"/>
          </a:p>
        </p:txBody>
      </p:sp>
      <p:sp>
        <p:nvSpPr>
          <p:cNvPr id="12" name="Text 10"/>
          <p:cNvSpPr/>
          <p:nvPr/>
        </p:nvSpPr>
        <p:spPr>
          <a:xfrm>
            <a:off x="704088" y="2798064"/>
            <a:ext cx="3054096" cy="219456"/>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tokens</a:t>
            </a:r>
            <a:endParaRPr lang="en-US" sz="1100" dirty="0"/>
          </a:p>
        </p:txBody>
      </p:sp>
      <p:sp>
        <p:nvSpPr>
          <p:cNvPr id="13" name="Text 11"/>
          <p:cNvSpPr/>
          <p:nvPr/>
        </p:nvSpPr>
        <p:spPr>
          <a:xfrm>
            <a:off x="704088" y="3639312"/>
            <a:ext cx="3054096" cy="594360"/>
          </a:xfrm>
          <a:prstGeom prst="rect">
            <a:avLst/>
          </a:prstGeom>
          <a:noFill/>
          <a:ln/>
        </p:spPr>
        <p:txBody>
          <a:bodyPr wrap="square" lIns="0" tIns="0" rIns="0" bIns="0" rtlCol="0" anchor="ctr"/>
          <a:lstStyle/>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품질 대비 비용 효율 우수</a:t>
            </a:r>
            <a:endParaRPr lang="en-US" sz="1200" dirty="0"/>
          </a:p>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상황 파악·초안 완성도 최고 수준</a:t>
            </a:r>
            <a:endParaRPr lang="en-US" sz="1200" dirty="0"/>
          </a:p>
        </p:txBody>
      </p:sp>
      <p:sp>
        <p:nvSpPr>
          <p:cNvPr id="14" name="Shape 12"/>
          <p:cNvSpPr/>
          <p:nvPr/>
        </p:nvSpPr>
        <p:spPr>
          <a:xfrm>
            <a:off x="4142232" y="1536192"/>
            <a:ext cx="3456432" cy="1993392"/>
          </a:xfrm>
          <a:prstGeom prst="rect">
            <a:avLst/>
          </a:prstGeom>
          <a:solidFill>
            <a:srgbClr val="F5F5F7"/>
          </a:solidFill>
          <a:ln w="12700">
            <a:solidFill>
              <a:srgbClr val="E0E0E0"/>
            </a:solidFill>
            <a:prstDash val="solid"/>
          </a:ln>
        </p:spPr>
      </p:sp>
      <p:sp>
        <p:nvSpPr>
          <p:cNvPr id="15" name="Shape 13"/>
          <p:cNvSpPr/>
          <p:nvPr/>
        </p:nvSpPr>
        <p:spPr>
          <a:xfrm>
            <a:off x="4142232" y="1536192"/>
            <a:ext cx="3456432" cy="54864"/>
          </a:xfrm>
          <a:prstGeom prst="rect">
            <a:avLst/>
          </a:prstGeom>
          <a:solidFill>
            <a:srgbClr val="CF7A5E"/>
          </a:solidFill>
          <a:ln w="12700">
            <a:solidFill>
              <a:srgbClr val="CF7A5E"/>
            </a:solidFill>
            <a:prstDash val="solid"/>
          </a:ln>
        </p:spPr>
      </p:sp>
      <p:sp>
        <p:nvSpPr>
          <p:cNvPr id="16" name="Shape 14"/>
          <p:cNvSpPr/>
          <p:nvPr/>
        </p:nvSpPr>
        <p:spPr>
          <a:xfrm>
            <a:off x="6638544" y="1627632"/>
            <a:ext cx="868680" cy="256032"/>
          </a:xfrm>
          <a:prstGeom prst="roundRect">
            <a:avLst>
              <a:gd name="adj" fmla="val 55000"/>
            </a:avLst>
          </a:prstGeom>
          <a:solidFill>
            <a:srgbClr val="CF7A5E"/>
          </a:solidFill>
          <a:ln w="12700">
            <a:solidFill>
              <a:srgbClr val="CF7A5E"/>
            </a:solidFill>
            <a:prstDash val="solid"/>
          </a:ln>
        </p:spPr>
      </p:sp>
      <p:sp>
        <p:nvSpPr>
          <p:cNvPr id="17" name="Text 15"/>
          <p:cNvSpPr/>
          <p:nvPr/>
        </p:nvSpPr>
        <p:spPr>
          <a:xfrm>
            <a:off x="6638544" y="1627632"/>
            <a:ext cx="868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비용 3위</a:t>
            </a:r>
            <a:endParaRPr lang="en-US" sz="1000" dirty="0"/>
          </a:p>
        </p:txBody>
      </p:sp>
      <p:sp>
        <p:nvSpPr>
          <p:cNvPr id="18" name="Text 16"/>
          <p:cNvSpPr/>
          <p:nvPr/>
        </p:nvSpPr>
        <p:spPr>
          <a:xfrm>
            <a:off x="4343400" y="1664208"/>
            <a:ext cx="2221992"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Claude Opus 4.8</a:t>
            </a:r>
            <a:endParaRPr lang="en-US" sz="1100" dirty="0"/>
          </a:p>
        </p:txBody>
      </p:sp>
      <p:sp>
        <p:nvSpPr>
          <p:cNvPr id="19" name="Text 17"/>
          <p:cNvSpPr/>
          <p:nvPr/>
        </p:nvSpPr>
        <p:spPr>
          <a:xfrm>
            <a:off x="4343400" y="1947672"/>
            <a:ext cx="3054096" cy="804672"/>
          </a:xfrm>
          <a:prstGeom prst="rect">
            <a:avLst/>
          </a:prstGeom>
          <a:noFill/>
          <a:ln/>
        </p:spPr>
        <p:txBody>
          <a:bodyPr wrap="square" lIns="0" tIns="0" rIns="0" bIns="0" rtlCol="0" anchor="ctr"/>
          <a:lstStyle/>
          <a:p>
            <a:pPr algn="l" indent="0" marL="0">
              <a:buNone/>
            </a:pPr>
            <a:r>
              <a:rPr lang="en-US" sz="5200" dirty="0">
                <a:solidFill>
                  <a:srgbClr val="CF7A5E"/>
                </a:solidFill>
                <a:latin typeface="Pretendard ExtraBold" pitchFamily="34" charset="0"/>
                <a:ea typeface="Pretendard ExtraBold" pitchFamily="34" charset="-122"/>
                <a:cs typeface="Pretendard ExtraBold" pitchFamily="34" charset="-120"/>
              </a:rPr>
              <a:t>1,842</a:t>
            </a:r>
            <a:endParaRPr lang="en-US" sz="5200" dirty="0"/>
          </a:p>
        </p:txBody>
      </p:sp>
      <p:sp>
        <p:nvSpPr>
          <p:cNvPr id="20" name="Text 18"/>
          <p:cNvSpPr/>
          <p:nvPr/>
        </p:nvSpPr>
        <p:spPr>
          <a:xfrm>
            <a:off x="4343400" y="2798064"/>
            <a:ext cx="3054096" cy="219456"/>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tokens</a:t>
            </a:r>
            <a:endParaRPr lang="en-US" sz="1100" dirty="0"/>
          </a:p>
        </p:txBody>
      </p:sp>
      <p:sp>
        <p:nvSpPr>
          <p:cNvPr id="21" name="Text 19"/>
          <p:cNvSpPr/>
          <p:nvPr/>
        </p:nvSpPr>
        <p:spPr>
          <a:xfrm>
            <a:off x="4343400" y="3639312"/>
            <a:ext cx="3054096" cy="594360"/>
          </a:xfrm>
          <a:prstGeom prst="rect">
            <a:avLst/>
          </a:prstGeom>
          <a:noFill/>
          <a:ln/>
        </p:spPr>
        <p:txBody>
          <a:bodyPr wrap="square" lIns="0" tIns="0" rIns="0" bIns="0" rtlCol="0" anchor="ctr"/>
          <a:lstStyle/>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3종 중 토큰 소비 최다</a:t>
            </a:r>
            <a:endParaRPr lang="en-US" sz="1200" dirty="0"/>
          </a:p>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(추가 질문·사고 과정 포함 추정)</a:t>
            </a:r>
            <a:endParaRPr lang="en-US" sz="1200" dirty="0"/>
          </a:p>
        </p:txBody>
      </p:sp>
      <p:sp>
        <p:nvSpPr>
          <p:cNvPr id="22" name="Shape 20"/>
          <p:cNvSpPr/>
          <p:nvPr/>
        </p:nvSpPr>
        <p:spPr>
          <a:xfrm>
            <a:off x="7781544" y="1536192"/>
            <a:ext cx="3456432" cy="1993392"/>
          </a:xfrm>
          <a:prstGeom prst="rect">
            <a:avLst/>
          </a:prstGeom>
          <a:solidFill>
            <a:srgbClr val="F5F5F7"/>
          </a:solidFill>
          <a:ln w="12700">
            <a:solidFill>
              <a:srgbClr val="E0E0E0"/>
            </a:solidFill>
            <a:prstDash val="solid"/>
          </a:ln>
        </p:spPr>
      </p:sp>
      <p:sp>
        <p:nvSpPr>
          <p:cNvPr id="23" name="Shape 21"/>
          <p:cNvSpPr/>
          <p:nvPr/>
        </p:nvSpPr>
        <p:spPr>
          <a:xfrm>
            <a:off x="7781544" y="1536192"/>
            <a:ext cx="3456432" cy="54864"/>
          </a:xfrm>
          <a:prstGeom prst="rect">
            <a:avLst/>
          </a:prstGeom>
          <a:solidFill>
            <a:srgbClr val="10A37F"/>
          </a:solidFill>
          <a:ln w="12700">
            <a:solidFill>
              <a:srgbClr val="10A37F"/>
            </a:solidFill>
            <a:prstDash val="solid"/>
          </a:ln>
        </p:spPr>
      </p:sp>
      <p:sp>
        <p:nvSpPr>
          <p:cNvPr id="24" name="Shape 22"/>
          <p:cNvSpPr/>
          <p:nvPr/>
        </p:nvSpPr>
        <p:spPr>
          <a:xfrm>
            <a:off x="10277856" y="1627632"/>
            <a:ext cx="868680" cy="256032"/>
          </a:xfrm>
          <a:prstGeom prst="roundRect">
            <a:avLst>
              <a:gd name="adj" fmla="val 55000"/>
            </a:avLst>
          </a:prstGeom>
          <a:solidFill>
            <a:srgbClr val="10A37F"/>
          </a:solidFill>
          <a:ln w="12700">
            <a:solidFill>
              <a:srgbClr val="10A37F"/>
            </a:solidFill>
            <a:prstDash val="solid"/>
          </a:ln>
        </p:spPr>
      </p:sp>
      <p:sp>
        <p:nvSpPr>
          <p:cNvPr id="25" name="Text 23"/>
          <p:cNvSpPr/>
          <p:nvPr/>
        </p:nvSpPr>
        <p:spPr>
          <a:xfrm>
            <a:off x="10277856" y="1627632"/>
            <a:ext cx="868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Pretendard SemiBold" pitchFamily="34" charset="0"/>
                <a:ea typeface="Pretendard SemiBold" pitchFamily="34" charset="-122"/>
                <a:cs typeface="Pretendard SemiBold" pitchFamily="34" charset="-120"/>
              </a:rPr>
              <a:t>비용 1위</a:t>
            </a:r>
            <a:endParaRPr lang="en-US" sz="1000" dirty="0"/>
          </a:p>
        </p:txBody>
      </p:sp>
      <p:sp>
        <p:nvSpPr>
          <p:cNvPr id="26" name="Text 24"/>
          <p:cNvSpPr/>
          <p:nvPr/>
        </p:nvSpPr>
        <p:spPr>
          <a:xfrm>
            <a:off x="7982712" y="1664208"/>
            <a:ext cx="2221992" cy="228600"/>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GPT-5.5</a:t>
            </a:r>
            <a:endParaRPr lang="en-US" sz="1100" dirty="0"/>
          </a:p>
        </p:txBody>
      </p:sp>
      <p:sp>
        <p:nvSpPr>
          <p:cNvPr id="27" name="Text 25"/>
          <p:cNvSpPr/>
          <p:nvPr/>
        </p:nvSpPr>
        <p:spPr>
          <a:xfrm>
            <a:off x="7982712" y="1947672"/>
            <a:ext cx="3054096" cy="804672"/>
          </a:xfrm>
          <a:prstGeom prst="rect">
            <a:avLst/>
          </a:prstGeom>
          <a:noFill/>
          <a:ln/>
        </p:spPr>
        <p:txBody>
          <a:bodyPr wrap="square" lIns="0" tIns="0" rIns="0" bIns="0" rtlCol="0" anchor="ctr"/>
          <a:lstStyle/>
          <a:p>
            <a:pPr algn="l" indent="0" marL="0">
              <a:buNone/>
            </a:pPr>
            <a:r>
              <a:rPr lang="en-US" sz="5200" dirty="0">
                <a:solidFill>
                  <a:srgbClr val="10A37F"/>
                </a:solidFill>
                <a:latin typeface="Pretendard ExtraBold" pitchFamily="34" charset="0"/>
                <a:ea typeface="Pretendard ExtraBold" pitchFamily="34" charset="-122"/>
                <a:cs typeface="Pretendard ExtraBold" pitchFamily="34" charset="-120"/>
              </a:rPr>
              <a:t>1,306</a:t>
            </a:r>
            <a:endParaRPr lang="en-US" sz="5200" dirty="0"/>
          </a:p>
        </p:txBody>
      </p:sp>
      <p:sp>
        <p:nvSpPr>
          <p:cNvPr id="28" name="Text 26"/>
          <p:cNvSpPr/>
          <p:nvPr/>
        </p:nvSpPr>
        <p:spPr>
          <a:xfrm>
            <a:off x="7982712" y="2798064"/>
            <a:ext cx="3054096" cy="219456"/>
          </a:xfrm>
          <a:prstGeom prst="rect">
            <a:avLst/>
          </a:prstGeom>
          <a:noFill/>
          <a:ln/>
        </p:spPr>
        <p:txBody>
          <a:bodyPr wrap="square" lIns="0" tIns="0" rIns="0" bIns="0" rtlCol="0" anchor="ctr"/>
          <a:lstStyle/>
          <a:p>
            <a:pPr algn="l" indent="0" marL="0">
              <a:buNone/>
            </a:pPr>
            <a:r>
              <a:rPr lang="en-US" sz="1100" dirty="0">
                <a:solidFill>
                  <a:srgbClr val="6B7280"/>
                </a:solidFill>
                <a:latin typeface="Pretendard Light" pitchFamily="34" charset="0"/>
                <a:ea typeface="Pretendard Light" pitchFamily="34" charset="-122"/>
                <a:cs typeface="Pretendard Light" pitchFamily="34" charset="-120"/>
              </a:rPr>
              <a:t>tokens</a:t>
            </a:r>
            <a:endParaRPr lang="en-US" sz="1100" dirty="0"/>
          </a:p>
        </p:txBody>
      </p:sp>
      <p:sp>
        <p:nvSpPr>
          <p:cNvPr id="29" name="Text 27"/>
          <p:cNvSpPr/>
          <p:nvPr/>
        </p:nvSpPr>
        <p:spPr>
          <a:xfrm>
            <a:off x="7982712" y="3639312"/>
            <a:ext cx="3054096" cy="594360"/>
          </a:xfrm>
          <a:prstGeom prst="rect">
            <a:avLst/>
          </a:prstGeom>
          <a:noFill/>
          <a:ln/>
        </p:spPr>
        <p:txBody>
          <a:bodyPr wrap="square" lIns="0" tIns="0" rIns="0" bIns="0" rtlCol="0" anchor="ctr"/>
          <a:lstStyle/>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최소 토큰 소비</a:t>
            </a:r>
            <a:endParaRPr lang="en-US" sz="1200" dirty="0"/>
          </a:p>
          <a:p>
            <a:pPr algn="l" indent="0" marL="0">
              <a:lnSpc>
                <a:spcPct val="145000"/>
              </a:lnSpc>
              <a:buNone/>
            </a:pPr>
            <a:r>
              <a:rPr lang="en-US" sz="1200" dirty="0">
                <a:solidFill>
                  <a:srgbClr val="6B7280"/>
                </a:solidFill>
                <a:latin typeface="Pretendard Regular" pitchFamily="34" charset="0"/>
                <a:ea typeface="Pretendard Regular" pitchFamily="34" charset="-122"/>
                <a:cs typeface="Pretendard Regular" pitchFamily="34" charset="-120"/>
              </a:rPr>
              <a:t>(추가 질문 없이 본문만 출력)</a:t>
            </a:r>
            <a:endParaRPr lang="en-US" sz="1200" dirty="0"/>
          </a:p>
        </p:txBody>
      </p:sp>
      <p:sp>
        <p:nvSpPr>
          <p:cNvPr id="30" name="Shape 28"/>
          <p:cNvSpPr/>
          <p:nvPr/>
        </p:nvSpPr>
        <p:spPr>
          <a:xfrm>
            <a:off x="502920" y="4187952"/>
            <a:ext cx="11183112" cy="1417320"/>
          </a:xfrm>
          <a:prstGeom prst="rect">
            <a:avLst/>
          </a:prstGeom>
          <a:solidFill>
            <a:srgbClr val="EBF3FF"/>
          </a:solidFill>
          <a:ln w="12700">
            <a:solidFill>
              <a:srgbClr val="BDD7F5"/>
            </a:solidFill>
            <a:prstDash val="solid"/>
          </a:ln>
        </p:spPr>
      </p:sp>
      <p:sp>
        <p:nvSpPr>
          <p:cNvPr id="31" name="Text 29"/>
          <p:cNvSpPr/>
          <p:nvPr/>
        </p:nvSpPr>
        <p:spPr>
          <a:xfrm>
            <a:off x="731520" y="4297680"/>
            <a:ext cx="10771632" cy="256032"/>
          </a:xfrm>
          <a:prstGeom prst="rect">
            <a:avLst/>
          </a:prstGeom>
          <a:noFill/>
          <a:ln/>
        </p:spPr>
        <p:txBody>
          <a:bodyPr wrap="square" lIns="0" tIns="0" rIns="0" bIns="0" rtlCol="0" anchor="ctr"/>
          <a:lstStyle/>
          <a:p>
            <a:pPr algn="l" indent="0" marL="0">
              <a:buNone/>
            </a:pPr>
            <a:r>
              <a:rPr lang="en-US" sz="1200" dirty="0">
                <a:solidFill>
                  <a:srgbClr val="0066CC"/>
                </a:solidFill>
                <a:latin typeface="Pretendard SemiBold" pitchFamily="34" charset="0"/>
                <a:ea typeface="Pretendard SemiBold" pitchFamily="34" charset="-122"/>
                <a:cs typeface="Pretendard SemiBold" pitchFamily="34" charset="-120"/>
              </a:rPr>
              <a:t>분석 요약</a:t>
            </a:r>
            <a:endParaRPr lang="en-US" sz="1200" dirty="0"/>
          </a:p>
        </p:txBody>
      </p:sp>
      <p:sp>
        <p:nvSpPr>
          <p:cNvPr id="32" name="Text 30"/>
          <p:cNvSpPr/>
          <p:nvPr/>
        </p:nvSpPr>
        <p:spPr>
          <a:xfrm>
            <a:off x="731520" y="4590288"/>
            <a:ext cx="10771632" cy="896112"/>
          </a:xfrm>
          <a:prstGeom prst="rect">
            <a:avLst/>
          </a:prstGeom>
          <a:noFill/>
          <a:ln/>
        </p:spPr>
        <p:txBody>
          <a:bodyPr wrap="square" lIns="0" tIns="0" rIns="0" bIns="0" rtlCol="0" anchor="ctr"/>
          <a:lstStyle/>
          <a:p>
            <a:pPr algn="l" indent="0" marL="0">
              <a:lnSpc>
                <a:spcPct val="155000"/>
              </a:lnSpc>
              <a:buNone/>
            </a:pPr>
            <a:r>
              <a:rPr lang="en-US" sz="1300" dirty="0">
                <a:solidFill>
                  <a:srgbClr val="1D1D1F"/>
                </a:solidFill>
                <a:latin typeface="Pretendard Regular" pitchFamily="34" charset="0"/>
                <a:ea typeface="Pretendard Regular" pitchFamily="34" charset="-122"/>
                <a:cs typeface="Pretendard Regular" pitchFamily="34" charset="-120"/>
              </a:rPr>
              <a:t>GPT-5.5는 토큰 소비가 가장 적었으나 상황 파악의 완성도가 낮았습니다. Claude Opus 4.8은 토큰을 가장 많이 소모하였으나 Gemini와 유사한 수준의 결과물을 출력하였습니다. Gemini 3.1 Pro는 품질과 비용의 균형 측면에서 가장 우수한 성과를 보였으며, 일반 사용자 구독 기준 비용 효율 또한 나머지 두 모델 대비 유리합니다.</a:t>
            </a:r>
            <a:endParaRPr lang="en-US" sz="1300" dirty="0"/>
          </a:p>
        </p:txBody>
      </p:sp>
      <p:sp>
        <p:nvSpPr>
          <p:cNvPr id="33" name="Shape 31"/>
          <p:cNvSpPr/>
          <p:nvPr/>
        </p:nvSpPr>
        <p:spPr>
          <a:xfrm>
            <a:off x="0" y="6400800"/>
            <a:ext cx="12188952" cy="457200"/>
          </a:xfrm>
          <a:prstGeom prst="rect">
            <a:avLst/>
          </a:prstGeom>
          <a:solidFill>
            <a:srgbClr val="1D1D1F"/>
          </a:solidFill>
          <a:ln w="12700">
            <a:solidFill>
              <a:srgbClr val="1D1D1F"/>
            </a:solidFill>
            <a:prstDash val="solid"/>
          </a:ln>
        </p:spPr>
      </p:sp>
      <p:sp>
        <p:nvSpPr>
          <p:cNvPr id="34" name="Text 32"/>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API 토큰 기준: GPT-5.5 1,306 &lt; Gemini 1,509 &lt; Claude Opus 4.8 1,842</a:t>
            </a:r>
            <a:endParaRPr lang="en-US" sz="1100" dirty="0"/>
          </a:p>
        </p:txBody>
      </p:sp>
      <p:sp>
        <p:nvSpPr>
          <p:cNvPr id="35" name="Text 33"/>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V. 최종 선정</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FFFFFF"/>
                </a:solidFill>
                <a:latin typeface="Pretendard Bold" pitchFamily="34" charset="0"/>
                <a:ea typeface="Pretendard Bold" pitchFamily="34" charset="-122"/>
                <a:cs typeface="Pretendard Bold" pitchFamily="34" charset="-120"/>
              </a:rPr>
              <a:t>가중순위결정법 결과</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CCCCCC"/>
                </a:solidFill>
                <a:latin typeface="Pretendard Regular" pitchFamily="34" charset="0"/>
                <a:ea typeface="Pretendard Regular" pitchFamily="34" charset="-122"/>
                <a:cs typeface="Pretendard Regular" pitchFamily="34" charset="-120"/>
              </a:rPr>
              <a:t>2안 비교법으로 1:1 평가 → 가중치 반영 총점 산출 → 최종 모델 선정</a:t>
            </a:r>
            <a:endParaRPr lang="en-US" sz="1500" dirty="0"/>
          </a:p>
        </p:txBody>
      </p:sp>
      <p:sp>
        <p:nvSpPr>
          <p:cNvPr id="5" name="Shape 3"/>
          <p:cNvSpPr/>
          <p:nvPr/>
        </p:nvSpPr>
        <p:spPr>
          <a:xfrm>
            <a:off x="502920" y="1353312"/>
            <a:ext cx="11183112" cy="0"/>
          </a:xfrm>
          <a:prstGeom prst="line">
            <a:avLst/>
          </a:prstGeom>
          <a:noFill/>
          <a:ln w="12700">
            <a:solidFill>
              <a:srgbClr val="3A3A3C"/>
            </a:solidFill>
            <a:prstDash val="solid"/>
          </a:ln>
        </p:spPr>
      </p:sp>
      <p:sp>
        <p:nvSpPr>
          <p:cNvPr id="6" name="Shape 4"/>
          <p:cNvSpPr/>
          <p:nvPr/>
        </p:nvSpPr>
        <p:spPr>
          <a:xfrm>
            <a:off x="502920" y="1536192"/>
            <a:ext cx="2331720" cy="548640"/>
          </a:xfrm>
          <a:prstGeom prst="rect">
            <a:avLst/>
          </a:prstGeom>
          <a:solidFill>
            <a:srgbClr val="0066CC"/>
          </a:solidFill>
          <a:ln w="12700">
            <a:solidFill>
              <a:srgbClr val="0055BB"/>
            </a:solidFill>
            <a:prstDash val="solid"/>
          </a:ln>
        </p:spPr>
      </p:sp>
      <p:sp>
        <p:nvSpPr>
          <p:cNvPr id="7" name="Text 5"/>
          <p:cNvSpPr/>
          <p:nvPr/>
        </p:nvSpPr>
        <p:spPr>
          <a:xfrm>
            <a:off x="539496" y="1536192"/>
            <a:ext cx="2258568"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AI 모델</a:t>
            </a:r>
            <a:endParaRPr lang="en-US" sz="1100" dirty="0"/>
          </a:p>
        </p:txBody>
      </p:sp>
      <p:sp>
        <p:nvSpPr>
          <p:cNvPr id="8" name="Shape 6"/>
          <p:cNvSpPr/>
          <p:nvPr/>
        </p:nvSpPr>
        <p:spPr>
          <a:xfrm>
            <a:off x="2834640" y="1536192"/>
            <a:ext cx="1389888" cy="548640"/>
          </a:xfrm>
          <a:prstGeom prst="rect">
            <a:avLst/>
          </a:prstGeom>
          <a:solidFill>
            <a:srgbClr val="0066CC"/>
          </a:solidFill>
          <a:ln w="12700">
            <a:solidFill>
              <a:srgbClr val="0055BB"/>
            </a:solidFill>
            <a:prstDash val="solid"/>
          </a:ln>
        </p:spPr>
      </p:sp>
      <p:sp>
        <p:nvSpPr>
          <p:cNvPr id="9" name="Text 7"/>
          <p:cNvSpPr/>
          <p:nvPr/>
        </p:nvSpPr>
        <p:spPr>
          <a:xfrm>
            <a:off x="2871216" y="1536192"/>
            <a:ext cx="1316736"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표현력</a:t>
            </a:r>
            <a:endParaRPr lang="en-US" sz="1100" dirty="0"/>
          </a:p>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(0.30)</a:t>
            </a:r>
            <a:endParaRPr lang="en-US" sz="1100" dirty="0"/>
          </a:p>
        </p:txBody>
      </p:sp>
      <p:sp>
        <p:nvSpPr>
          <p:cNvPr id="10" name="Shape 8"/>
          <p:cNvSpPr/>
          <p:nvPr/>
        </p:nvSpPr>
        <p:spPr>
          <a:xfrm>
            <a:off x="4224528" y="1536192"/>
            <a:ext cx="1389888" cy="548640"/>
          </a:xfrm>
          <a:prstGeom prst="rect">
            <a:avLst/>
          </a:prstGeom>
          <a:solidFill>
            <a:srgbClr val="0066CC"/>
          </a:solidFill>
          <a:ln w="12700">
            <a:solidFill>
              <a:srgbClr val="0055BB"/>
            </a:solidFill>
            <a:prstDash val="solid"/>
          </a:ln>
        </p:spPr>
      </p:sp>
      <p:sp>
        <p:nvSpPr>
          <p:cNvPr id="11" name="Text 9"/>
          <p:cNvSpPr/>
          <p:nvPr/>
        </p:nvSpPr>
        <p:spPr>
          <a:xfrm>
            <a:off x="4261104" y="1536192"/>
            <a:ext cx="1316736"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형식 준수</a:t>
            </a:r>
            <a:endParaRPr lang="en-US" sz="1100" dirty="0"/>
          </a:p>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(0.20)</a:t>
            </a:r>
            <a:endParaRPr lang="en-US" sz="1100" dirty="0"/>
          </a:p>
        </p:txBody>
      </p:sp>
      <p:sp>
        <p:nvSpPr>
          <p:cNvPr id="12" name="Shape 10"/>
          <p:cNvSpPr/>
          <p:nvPr/>
        </p:nvSpPr>
        <p:spPr>
          <a:xfrm>
            <a:off x="5614416" y="1536192"/>
            <a:ext cx="1389888" cy="548640"/>
          </a:xfrm>
          <a:prstGeom prst="rect">
            <a:avLst/>
          </a:prstGeom>
          <a:solidFill>
            <a:srgbClr val="0066CC"/>
          </a:solidFill>
          <a:ln w="12700">
            <a:solidFill>
              <a:srgbClr val="0055BB"/>
            </a:solidFill>
            <a:prstDash val="solid"/>
          </a:ln>
        </p:spPr>
      </p:sp>
      <p:sp>
        <p:nvSpPr>
          <p:cNvPr id="13" name="Text 11"/>
          <p:cNvSpPr/>
          <p:nvPr/>
        </p:nvSpPr>
        <p:spPr>
          <a:xfrm>
            <a:off x="5650992" y="1536192"/>
            <a:ext cx="1316736"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비용</a:t>
            </a:r>
            <a:endParaRPr lang="en-US" sz="1100" dirty="0"/>
          </a:p>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(0.20)</a:t>
            </a:r>
            <a:endParaRPr lang="en-US" sz="1100" dirty="0"/>
          </a:p>
        </p:txBody>
      </p:sp>
      <p:sp>
        <p:nvSpPr>
          <p:cNvPr id="14" name="Shape 12"/>
          <p:cNvSpPr/>
          <p:nvPr/>
        </p:nvSpPr>
        <p:spPr>
          <a:xfrm>
            <a:off x="7004304" y="1536192"/>
            <a:ext cx="1389888" cy="548640"/>
          </a:xfrm>
          <a:prstGeom prst="rect">
            <a:avLst/>
          </a:prstGeom>
          <a:solidFill>
            <a:srgbClr val="0066CC"/>
          </a:solidFill>
          <a:ln w="12700">
            <a:solidFill>
              <a:srgbClr val="0055BB"/>
            </a:solidFill>
            <a:prstDash val="solid"/>
          </a:ln>
        </p:spPr>
      </p:sp>
      <p:sp>
        <p:nvSpPr>
          <p:cNvPr id="15" name="Text 13"/>
          <p:cNvSpPr/>
          <p:nvPr/>
        </p:nvSpPr>
        <p:spPr>
          <a:xfrm>
            <a:off x="7040880" y="1536192"/>
            <a:ext cx="1316736"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속도/안정성</a:t>
            </a:r>
            <a:endParaRPr lang="en-US" sz="1100" dirty="0"/>
          </a:p>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(0.10)</a:t>
            </a:r>
            <a:endParaRPr lang="en-US" sz="1100" dirty="0"/>
          </a:p>
        </p:txBody>
      </p:sp>
      <p:sp>
        <p:nvSpPr>
          <p:cNvPr id="16" name="Shape 14"/>
          <p:cNvSpPr/>
          <p:nvPr/>
        </p:nvSpPr>
        <p:spPr>
          <a:xfrm>
            <a:off x="8394192" y="1536192"/>
            <a:ext cx="1389888" cy="548640"/>
          </a:xfrm>
          <a:prstGeom prst="rect">
            <a:avLst/>
          </a:prstGeom>
          <a:solidFill>
            <a:srgbClr val="0066CC"/>
          </a:solidFill>
          <a:ln w="12700">
            <a:solidFill>
              <a:srgbClr val="0055BB"/>
            </a:solidFill>
            <a:prstDash val="solid"/>
          </a:ln>
        </p:spPr>
      </p:sp>
      <p:sp>
        <p:nvSpPr>
          <p:cNvPr id="17" name="Text 15"/>
          <p:cNvSpPr/>
          <p:nvPr/>
        </p:nvSpPr>
        <p:spPr>
          <a:xfrm>
            <a:off x="8430768" y="1536192"/>
            <a:ext cx="1316736"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적극성</a:t>
            </a:r>
            <a:endParaRPr lang="en-US" sz="1100" dirty="0"/>
          </a:p>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(0.20)</a:t>
            </a:r>
            <a:endParaRPr lang="en-US" sz="1100" dirty="0"/>
          </a:p>
        </p:txBody>
      </p:sp>
      <p:sp>
        <p:nvSpPr>
          <p:cNvPr id="18" name="Shape 16"/>
          <p:cNvSpPr/>
          <p:nvPr/>
        </p:nvSpPr>
        <p:spPr>
          <a:xfrm>
            <a:off x="9784080" y="1536192"/>
            <a:ext cx="1362456" cy="548640"/>
          </a:xfrm>
          <a:prstGeom prst="rect">
            <a:avLst/>
          </a:prstGeom>
          <a:solidFill>
            <a:srgbClr val="0066CC"/>
          </a:solidFill>
          <a:ln w="12700">
            <a:solidFill>
              <a:srgbClr val="0055BB"/>
            </a:solidFill>
            <a:prstDash val="solid"/>
          </a:ln>
        </p:spPr>
      </p:sp>
      <p:sp>
        <p:nvSpPr>
          <p:cNvPr id="19" name="Text 17"/>
          <p:cNvSpPr/>
          <p:nvPr/>
        </p:nvSpPr>
        <p:spPr>
          <a:xfrm>
            <a:off x="9820656" y="1536192"/>
            <a:ext cx="1289304" cy="54864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Pretendard SemiBold" pitchFamily="34" charset="0"/>
                <a:ea typeface="Pretendard SemiBold" pitchFamily="34" charset="-122"/>
                <a:cs typeface="Pretendard SemiBold" pitchFamily="34" charset="-120"/>
              </a:rPr>
              <a:t>합계 (Σ)</a:t>
            </a:r>
            <a:endParaRPr lang="en-US" sz="1100" dirty="0"/>
          </a:p>
        </p:txBody>
      </p:sp>
      <p:sp>
        <p:nvSpPr>
          <p:cNvPr id="20" name="Shape 18"/>
          <p:cNvSpPr/>
          <p:nvPr/>
        </p:nvSpPr>
        <p:spPr>
          <a:xfrm>
            <a:off x="502920" y="2084832"/>
            <a:ext cx="2331720" cy="658368"/>
          </a:xfrm>
          <a:prstGeom prst="rect">
            <a:avLst/>
          </a:prstGeom>
          <a:solidFill>
            <a:srgbClr val="152244"/>
          </a:solidFill>
          <a:ln w="12700">
            <a:solidFill>
              <a:srgbClr val="3A3A3C"/>
            </a:solidFill>
            <a:prstDash val="solid"/>
          </a:ln>
        </p:spPr>
      </p:sp>
      <p:sp>
        <p:nvSpPr>
          <p:cNvPr id="21" name="Shape 19"/>
          <p:cNvSpPr/>
          <p:nvPr/>
        </p:nvSpPr>
        <p:spPr>
          <a:xfrm>
            <a:off x="502920" y="2084832"/>
            <a:ext cx="54864" cy="658368"/>
          </a:xfrm>
          <a:prstGeom prst="rect">
            <a:avLst/>
          </a:prstGeom>
          <a:solidFill>
            <a:srgbClr val="2997FF"/>
          </a:solidFill>
          <a:ln w="12700">
            <a:solidFill>
              <a:srgbClr val="2997FF"/>
            </a:solidFill>
            <a:prstDash val="solid"/>
          </a:ln>
        </p:spPr>
      </p:sp>
      <p:sp>
        <p:nvSpPr>
          <p:cNvPr id="22" name="Text 20"/>
          <p:cNvSpPr/>
          <p:nvPr/>
        </p:nvSpPr>
        <p:spPr>
          <a:xfrm>
            <a:off x="612648" y="2084832"/>
            <a:ext cx="2167128" cy="658368"/>
          </a:xfrm>
          <a:prstGeom prst="rect">
            <a:avLst/>
          </a:prstGeom>
          <a:noFill/>
          <a:ln/>
        </p:spPr>
        <p:txBody>
          <a:bodyPr wrap="square" lIns="0" tIns="0" rIns="0" bIns="0" rtlCol="0" anchor="ctr"/>
          <a:lstStyle/>
          <a:p>
            <a:pPr algn="l" indent="0" marL="0">
              <a:buNone/>
            </a:pPr>
            <a:r>
              <a:rPr lang="en-US" sz="1300" dirty="0">
                <a:solidFill>
                  <a:srgbClr val="FFFFFF"/>
                </a:solidFill>
                <a:latin typeface="Pretendard Bold" pitchFamily="34" charset="0"/>
                <a:ea typeface="Pretendard Bold" pitchFamily="34" charset="-122"/>
                <a:cs typeface="Pretendard Bold" pitchFamily="34" charset="-120"/>
              </a:rPr>
              <a:t>Gemini 3.1 Pro</a:t>
            </a:r>
            <a:endParaRPr lang="en-US" sz="1300" dirty="0"/>
          </a:p>
        </p:txBody>
      </p:sp>
      <p:sp>
        <p:nvSpPr>
          <p:cNvPr id="23" name="Shape 21"/>
          <p:cNvSpPr/>
          <p:nvPr/>
        </p:nvSpPr>
        <p:spPr>
          <a:xfrm>
            <a:off x="2834640" y="2084832"/>
            <a:ext cx="1389888" cy="658368"/>
          </a:xfrm>
          <a:prstGeom prst="rect">
            <a:avLst/>
          </a:prstGeom>
          <a:solidFill>
            <a:srgbClr val="152244"/>
          </a:solidFill>
          <a:ln w="12700">
            <a:solidFill>
              <a:srgbClr val="3A3A3C"/>
            </a:solidFill>
            <a:prstDash val="solid"/>
          </a:ln>
        </p:spPr>
      </p:sp>
      <p:sp>
        <p:nvSpPr>
          <p:cNvPr id="24" name="Text 22"/>
          <p:cNvSpPr/>
          <p:nvPr/>
        </p:nvSpPr>
        <p:spPr>
          <a:xfrm>
            <a:off x="2871216" y="2084832"/>
            <a:ext cx="1316736" cy="658368"/>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Regular" pitchFamily="34" charset="0"/>
                <a:ea typeface="Pretendard Regular" pitchFamily="34" charset="-122"/>
                <a:cs typeface="Pretendard Regular" pitchFamily="34" charset="-120"/>
              </a:rPr>
              <a:t>2  (0.6)</a:t>
            </a:r>
            <a:endParaRPr lang="en-US" sz="1200" dirty="0"/>
          </a:p>
        </p:txBody>
      </p:sp>
      <p:sp>
        <p:nvSpPr>
          <p:cNvPr id="25" name="Shape 23"/>
          <p:cNvSpPr/>
          <p:nvPr/>
        </p:nvSpPr>
        <p:spPr>
          <a:xfrm>
            <a:off x="4224528" y="2084832"/>
            <a:ext cx="1389888" cy="658368"/>
          </a:xfrm>
          <a:prstGeom prst="rect">
            <a:avLst/>
          </a:prstGeom>
          <a:solidFill>
            <a:srgbClr val="152244"/>
          </a:solidFill>
          <a:ln w="12700">
            <a:solidFill>
              <a:srgbClr val="3A3A3C"/>
            </a:solidFill>
            <a:prstDash val="solid"/>
          </a:ln>
        </p:spPr>
      </p:sp>
      <p:sp>
        <p:nvSpPr>
          <p:cNvPr id="26" name="Text 24"/>
          <p:cNvSpPr/>
          <p:nvPr/>
        </p:nvSpPr>
        <p:spPr>
          <a:xfrm>
            <a:off x="4261104" y="2084832"/>
            <a:ext cx="1316736" cy="658368"/>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Regular" pitchFamily="34" charset="0"/>
                <a:ea typeface="Pretendard Regular" pitchFamily="34" charset="-122"/>
                <a:cs typeface="Pretendard Regular" pitchFamily="34" charset="-120"/>
              </a:rPr>
              <a:t>2  (0.4)</a:t>
            </a:r>
            <a:endParaRPr lang="en-US" sz="1200" dirty="0"/>
          </a:p>
        </p:txBody>
      </p:sp>
      <p:sp>
        <p:nvSpPr>
          <p:cNvPr id="27" name="Shape 25"/>
          <p:cNvSpPr/>
          <p:nvPr/>
        </p:nvSpPr>
        <p:spPr>
          <a:xfrm>
            <a:off x="5614416" y="2084832"/>
            <a:ext cx="1389888" cy="658368"/>
          </a:xfrm>
          <a:prstGeom prst="rect">
            <a:avLst/>
          </a:prstGeom>
          <a:solidFill>
            <a:srgbClr val="152244"/>
          </a:solidFill>
          <a:ln w="12700">
            <a:solidFill>
              <a:srgbClr val="3A3A3C"/>
            </a:solidFill>
            <a:prstDash val="solid"/>
          </a:ln>
        </p:spPr>
      </p:sp>
      <p:sp>
        <p:nvSpPr>
          <p:cNvPr id="28" name="Text 26"/>
          <p:cNvSpPr/>
          <p:nvPr/>
        </p:nvSpPr>
        <p:spPr>
          <a:xfrm>
            <a:off x="5650992" y="2084832"/>
            <a:ext cx="1316736" cy="658368"/>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Regular" pitchFamily="34" charset="0"/>
                <a:ea typeface="Pretendard Regular" pitchFamily="34" charset="-122"/>
                <a:cs typeface="Pretendard Regular" pitchFamily="34" charset="-120"/>
              </a:rPr>
              <a:t>1  (0.2)</a:t>
            </a:r>
            <a:endParaRPr lang="en-US" sz="1200" dirty="0"/>
          </a:p>
        </p:txBody>
      </p:sp>
      <p:sp>
        <p:nvSpPr>
          <p:cNvPr id="29" name="Shape 27"/>
          <p:cNvSpPr/>
          <p:nvPr/>
        </p:nvSpPr>
        <p:spPr>
          <a:xfrm>
            <a:off x="7004304" y="2084832"/>
            <a:ext cx="1389888" cy="658368"/>
          </a:xfrm>
          <a:prstGeom prst="rect">
            <a:avLst/>
          </a:prstGeom>
          <a:solidFill>
            <a:srgbClr val="152244"/>
          </a:solidFill>
          <a:ln w="12700">
            <a:solidFill>
              <a:srgbClr val="3A3A3C"/>
            </a:solidFill>
            <a:prstDash val="solid"/>
          </a:ln>
        </p:spPr>
      </p:sp>
      <p:sp>
        <p:nvSpPr>
          <p:cNvPr id="30" name="Text 28"/>
          <p:cNvSpPr/>
          <p:nvPr/>
        </p:nvSpPr>
        <p:spPr>
          <a:xfrm>
            <a:off x="7040880" y="2084832"/>
            <a:ext cx="1316736" cy="658368"/>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Regular" pitchFamily="34" charset="0"/>
                <a:ea typeface="Pretendard Regular" pitchFamily="34" charset="-122"/>
                <a:cs typeface="Pretendard Regular" pitchFamily="34" charset="-120"/>
              </a:rPr>
              <a:t>1  (0.1)</a:t>
            </a:r>
            <a:endParaRPr lang="en-US" sz="1200" dirty="0"/>
          </a:p>
        </p:txBody>
      </p:sp>
      <p:sp>
        <p:nvSpPr>
          <p:cNvPr id="31" name="Shape 29"/>
          <p:cNvSpPr/>
          <p:nvPr/>
        </p:nvSpPr>
        <p:spPr>
          <a:xfrm>
            <a:off x="8394192" y="2084832"/>
            <a:ext cx="1389888" cy="658368"/>
          </a:xfrm>
          <a:prstGeom prst="rect">
            <a:avLst/>
          </a:prstGeom>
          <a:solidFill>
            <a:srgbClr val="152244"/>
          </a:solidFill>
          <a:ln w="12700">
            <a:solidFill>
              <a:srgbClr val="3A3A3C"/>
            </a:solidFill>
            <a:prstDash val="solid"/>
          </a:ln>
        </p:spPr>
      </p:sp>
      <p:sp>
        <p:nvSpPr>
          <p:cNvPr id="32" name="Text 30"/>
          <p:cNvSpPr/>
          <p:nvPr/>
        </p:nvSpPr>
        <p:spPr>
          <a:xfrm>
            <a:off x="8430768" y="2084832"/>
            <a:ext cx="1316736" cy="658368"/>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Regular" pitchFamily="34" charset="0"/>
                <a:ea typeface="Pretendard Regular" pitchFamily="34" charset="-122"/>
                <a:cs typeface="Pretendard Regular" pitchFamily="34" charset="-120"/>
              </a:rPr>
              <a:t>2  (0.4)</a:t>
            </a:r>
            <a:endParaRPr lang="en-US" sz="1200" dirty="0"/>
          </a:p>
        </p:txBody>
      </p:sp>
      <p:sp>
        <p:nvSpPr>
          <p:cNvPr id="33" name="Shape 31"/>
          <p:cNvSpPr/>
          <p:nvPr/>
        </p:nvSpPr>
        <p:spPr>
          <a:xfrm>
            <a:off x="9784080" y="2084832"/>
            <a:ext cx="1362456" cy="658368"/>
          </a:xfrm>
          <a:prstGeom prst="rect">
            <a:avLst/>
          </a:prstGeom>
          <a:solidFill>
            <a:srgbClr val="0066CC"/>
          </a:solidFill>
          <a:ln w="12700">
            <a:solidFill>
              <a:srgbClr val="3A3A3C"/>
            </a:solidFill>
            <a:prstDash val="solid"/>
          </a:ln>
        </p:spPr>
      </p:sp>
      <p:sp>
        <p:nvSpPr>
          <p:cNvPr id="34" name="Text 32"/>
          <p:cNvSpPr/>
          <p:nvPr/>
        </p:nvSpPr>
        <p:spPr>
          <a:xfrm>
            <a:off x="9820656" y="2084832"/>
            <a:ext cx="1289304" cy="658368"/>
          </a:xfrm>
          <a:prstGeom prst="rect">
            <a:avLst/>
          </a:prstGeom>
          <a:noFill/>
          <a:ln/>
        </p:spPr>
        <p:txBody>
          <a:bodyPr wrap="square" lIns="0" tIns="0" rIns="0" bIns="0" rtlCol="0" anchor="ctr"/>
          <a:lstStyle/>
          <a:p>
            <a:pPr algn="ctr" indent="0" marL="0">
              <a:buNone/>
            </a:pPr>
            <a:r>
              <a:rPr lang="en-US" sz="2000" dirty="0">
                <a:solidFill>
                  <a:srgbClr val="FFFFFF"/>
                </a:solidFill>
                <a:latin typeface="Pretendard ExtraBold" pitchFamily="34" charset="0"/>
                <a:ea typeface="Pretendard ExtraBold" pitchFamily="34" charset="-122"/>
                <a:cs typeface="Pretendard ExtraBold" pitchFamily="34" charset="-120"/>
              </a:rPr>
              <a:t>1.7</a:t>
            </a:r>
            <a:endParaRPr lang="en-US" sz="2000" dirty="0"/>
          </a:p>
        </p:txBody>
      </p:sp>
      <p:sp>
        <p:nvSpPr>
          <p:cNvPr id="35" name="Shape 33"/>
          <p:cNvSpPr/>
          <p:nvPr/>
        </p:nvSpPr>
        <p:spPr>
          <a:xfrm>
            <a:off x="502920" y="2743200"/>
            <a:ext cx="2331720" cy="658368"/>
          </a:xfrm>
          <a:prstGeom prst="rect">
            <a:avLst/>
          </a:prstGeom>
          <a:solidFill>
            <a:srgbClr val="2A2A2C"/>
          </a:solidFill>
          <a:ln w="12700">
            <a:solidFill>
              <a:srgbClr val="3A3A3C"/>
            </a:solidFill>
            <a:prstDash val="solid"/>
          </a:ln>
        </p:spPr>
      </p:sp>
      <p:sp>
        <p:nvSpPr>
          <p:cNvPr id="36" name="Text 34"/>
          <p:cNvSpPr/>
          <p:nvPr/>
        </p:nvSpPr>
        <p:spPr>
          <a:xfrm>
            <a:off x="612648" y="2743200"/>
            <a:ext cx="2167128" cy="658368"/>
          </a:xfrm>
          <a:prstGeom prst="rect">
            <a:avLst/>
          </a:prstGeom>
          <a:noFill/>
          <a:ln/>
        </p:spPr>
        <p:txBody>
          <a:bodyPr wrap="square" lIns="0" tIns="0" rIns="0" bIns="0" rtlCol="0" anchor="ctr"/>
          <a:lstStyle/>
          <a:p>
            <a:pPr algn="l" indent="0" marL="0">
              <a:buNone/>
            </a:pPr>
            <a:r>
              <a:rPr lang="en-US" sz="1300" dirty="0">
                <a:solidFill>
                  <a:srgbClr val="CCCCCC"/>
                </a:solidFill>
                <a:latin typeface="Pretendard Regular" pitchFamily="34" charset="0"/>
                <a:ea typeface="Pretendard Regular" pitchFamily="34" charset="-122"/>
                <a:cs typeface="Pretendard Regular" pitchFamily="34" charset="-120"/>
              </a:rPr>
              <a:t>Claude Opus 4.8</a:t>
            </a:r>
            <a:endParaRPr lang="en-US" sz="1300" dirty="0"/>
          </a:p>
        </p:txBody>
      </p:sp>
      <p:sp>
        <p:nvSpPr>
          <p:cNvPr id="37" name="Shape 35"/>
          <p:cNvSpPr/>
          <p:nvPr/>
        </p:nvSpPr>
        <p:spPr>
          <a:xfrm>
            <a:off x="2834640" y="2743200"/>
            <a:ext cx="1389888" cy="658368"/>
          </a:xfrm>
          <a:prstGeom prst="rect">
            <a:avLst/>
          </a:prstGeom>
          <a:solidFill>
            <a:srgbClr val="2A2A2C"/>
          </a:solidFill>
          <a:ln w="12700">
            <a:solidFill>
              <a:srgbClr val="3A3A3C"/>
            </a:solidFill>
            <a:prstDash val="solid"/>
          </a:ln>
        </p:spPr>
      </p:sp>
      <p:sp>
        <p:nvSpPr>
          <p:cNvPr id="38" name="Text 36"/>
          <p:cNvSpPr/>
          <p:nvPr/>
        </p:nvSpPr>
        <p:spPr>
          <a:xfrm>
            <a:off x="2871216" y="2743200"/>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1  (0.3)</a:t>
            </a:r>
            <a:endParaRPr lang="en-US" sz="1200" dirty="0"/>
          </a:p>
        </p:txBody>
      </p:sp>
      <p:sp>
        <p:nvSpPr>
          <p:cNvPr id="39" name="Shape 37"/>
          <p:cNvSpPr/>
          <p:nvPr/>
        </p:nvSpPr>
        <p:spPr>
          <a:xfrm>
            <a:off x="4224528" y="2743200"/>
            <a:ext cx="1389888" cy="658368"/>
          </a:xfrm>
          <a:prstGeom prst="rect">
            <a:avLst/>
          </a:prstGeom>
          <a:solidFill>
            <a:srgbClr val="2A2A2C"/>
          </a:solidFill>
          <a:ln w="12700">
            <a:solidFill>
              <a:srgbClr val="3A3A3C"/>
            </a:solidFill>
            <a:prstDash val="solid"/>
          </a:ln>
        </p:spPr>
      </p:sp>
      <p:sp>
        <p:nvSpPr>
          <p:cNvPr id="40" name="Text 38"/>
          <p:cNvSpPr/>
          <p:nvPr/>
        </p:nvSpPr>
        <p:spPr>
          <a:xfrm>
            <a:off x="4261104" y="2743200"/>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1  (0.2)</a:t>
            </a:r>
            <a:endParaRPr lang="en-US" sz="1200" dirty="0"/>
          </a:p>
        </p:txBody>
      </p:sp>
      <p:sp>
        <p:nvSpPr>
          <p:cNvPr id="41" name="Shape 39"/>
          <p:cNvSpPr/>
          <p:nvPr/>
        </p:nvSpPr>
        <p:spPr>
          <a:xfrm>
            <a:off x="5614416" y="2743200"/>
            <a:ext cx="1389888" cy="658368"/>
          </a:xfrm>
          <a:prstGeom prst="rect">
            <a:avLst/>
          </a:prstGeom>
          <a:solidFill>
            <a:srgbClr val="2A2A2C"/>
          </a:solidFill>
          <a:ln w="12700">
            <a:solidFill>
              <a:srgbClr val="3A3A3C"/>
            </a:solidFill>
            <a:prstDash val="solid"/>
          </a:ln>
        </p:spPr>
      </p:sp>
      <p:sp>
        <p:nvSpPr>
          <p:cNvPr id="42" name="Text 40"/>
          <p:cNvSpPr/>
          <p:nvPr/>
        </p:nvSpPr>
        <p:spPr>
          <a:xfrm>
            <a:off x="5650992" y="2743200"/>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0</a:t>
            </a:r>
            <a:endParaRPr lang="en-US" sz="1200" dirty="0"/>
          </a:p>
        </p:txBody>
      </p:sp>
      <p:sp>
        <p:nvSpPr>
          <p:cNvPr id="43" name="Shape 41"/>
          <p:cNvSpPr/>
          <p:nvPr/>
        </p:nvSpPr>
        <p:spPr>
          <a:xfrm>
            <a:off x="7004304" y="2743200"/>
            <a:ext cx="1389888" cy="658368"/>
          </a:xfrm>
          <a:prstGeom prst="rect">
            <a:avLst/>
          </a:prstGeom>
          <a:solidFill>
            <a:srgbClr val="2A2A2C"/>
          </a:solidFill>
          <a:ln w="12700">
            <a:solidFill>
              <a:srgbClr val="3A3A3C"/>
            </a:solidFill>
            <a:prstDash val="solid"/>
          </a:ln>
        </p:spPr>
      </p:sp>
      <p:sp>
        <p:nvSpPr>
          <p:cNvPr id="44" name="Text 42"/>
          <p:cNvSpPr/>
          <p:nvPr/>
        </p:nvSpPr>
        <p:spPr>
          <a:xfrm>
            <a:off x="7040880" y="2743200"/>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0</a:t>
            </a:r>
            <a:endParaRPr lang="en-US" sz="1200" dirty="0"/>
          </a:p>
        </p:txBody>
      </p:sp>
      <p:sp>
        <p:nvSpPr>
          <p:cNvPr id="45" name="Shape 43"/>
          <p:cNvSpPr/>
          <p:nvPr/>
        </p:nvSpPr>
        <p:spPr>
          <a:xfrm>
            <a:off x="8394192" y="2743200"/>
            <a:ext cx="1389888" cy="658368"/>
          </a:xfrm>
          <a:prstGeom prst="rect">
            <a:avLst/>
          </a:prstGeom>
          <a:solidFill>
            <a:srgbClr val="2A2A2C"/>
          </a:solidFill>
          <a:ln w="12700">
            <a:solidFill>
              <a:srgbClr val="3A3A3C"/>
            </a:solidFill>
            <a:prstDash val="solid"/>
          </a:ln>
        </p:spPr>
      </p:sp>
      <p:sp>
        <p:nvSpPr>
          <p:cNvPr id="46" name="Text 44"/>
          <p:cNvSpPr/>
          <p:nvPr/>
        </p:nvSpPr>
        <p:spPr>
          <a:xfrm>
            <a:off x="8430768" y="2743200"/>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1  (0.2)</a:t>
            </a:r>
            <a:endParaRPr lang="en-US" sz="1200" dirty="0"/>
          </a:p>
        </p:txBody>
      </p:sp>
      <p:sp>
        <p:nvSpPr>
          <p:cNvPr id="47" name="Shape 45"/>
          <p:cNvSpPr/>
          <p:nvPr/>
        </p:nvSpPr>
        <p:spPr>
          <a:xfrm>
            <a:off x="9784080" y="2743200"/>
            <a:ext cx="1362456" cy="658368"/>
          </a:xfrm>
          <a:prstGeom prst="rect">
            <a:avLst/>
          </a:prstGeom>
          <a:solidFill>
            <a:srgbClr val="2A2A2C"/>
          </a:solidFill>
          <a:ln w="12700">
            <a:solidFill>
              <a:srgbClr val="3A3A3C"/>
            </a:solidFill>
            <a:prstDash val="solid"/>
          </a:ln>
        </p:spPr>
      </p:sp>
      <p:sp>
        <p:nvSpPr>
          <p:cNvPr id="48" name="Text 46"/>
          <p:cNvSpPr/>
          <p:nvPr/>
        </p:nvSpPr>
        <p:spPr>
          <a:xfrm>
            <a:off x="9820656" y="2743200"/>
            <a:ext cx="1289304" cy="658368"/>
          </a:xfrm>
          <a:prstGeom prst="rect">
            <a:avLst/>
          </a:prstGeom>
          <a:noFill/>
          <a:ln/>
        </p:spPr>
        <p:txBody>
          <a:bodyPr wrap="square" lIns="0" tIns="0" rIns="0" bIns="0" rtlCol="0" anchor="ctr"/>
          <a:lstStyle/>
          <a:p>
            <a:pPr algn="ctr" indent="0" marL="0">
              <a:buNone/>
            </a:pPr>
            <a:r>
              <a:rPr lang="en-US" sz="1400" dirty="0">
                <a:solidFill>
                  <a:srgbClr val="FFFFFF"/>
                </a:solidFill>
                <a:latin typeface="Pretendard ExtraBold" pitchFamily="34" charset="0"/>
                <a:ea typeface="Pretendard ExtraBold" pitchFamily="34" charset="-122"/>
                <a:cs typeface="Pretendard ExtraBold" pitchFamily="34" charset="-120"/>
              </a:rPr>
              <a:t>0.7</a:t>
            </a:r>
            <a:endParaRPr lang="en-US" sz="1400" dirty="0"/>
          </a:p>
        </p:txBody>
      </p:sp>
      <p:sp>
        <p:nvSpPr>
          <p:cNvPr id="49" name="Shape 47"/>
          <p:cNvSpPr/>
          <p:nvPr/>
        </p:nvSpPr>
        <p:spPr>
          <a:xfrm>
            <a:off x="502920" y="3401568"/>
            <a:ext cx="2331720" cy="658368"/>
          </a:xfrm>
          <a:prstGeom prst="rect">
            <a:avLst/>
          </a:prstGeom>
          <a:solidFill>
            <a:srgbClr val="2A2A2C"/>
          </a:solidFill>
          <a:ln w="12700">
            <a:solidFill>
              <a:srgbClr val="3A3A3C"/>
            </a:solidFill>
            <a:prstDash val="solid"/>
          </a:ln>
        </p:spPr>
      </p:sp>
      <p:sp>
        <p:nvSpPr>
          <p:cNvPr id="50" name="Text 48"/>
          <p:cNvSpPr/>
          <p:nvPr/>
        </p:nvSpPr>
        <p:spPr>
          <a:xfrm>
            <a:off x="612648" y="3401568"/>
            <a:ext cx="2167128" cy="658368"/>
          </a:xfrm>
          <a:prstGeom prst="rect">
            <a:avLst/>
          </a:prstGeom>
          <a:noFill/>
          <a:ln/>
        </p:spPr>
        <p:txBody>
          <a:bodyPr wrap="square" lIns="0" tIns="0" rIns="0" bIns="0" rtlCol="0" anchor="ctr"/>
          <a:lstStyle/>
          <a:p>
            <a:pPr algn="l" indent="0" marL="0">
              <a:buNone/>
            </a:pPr>
            <a:r>
              <a:rPr lang="en-US" sz="1300" dirty="0">
                <a:solidFill>
                  <a:srgbClr val="CCCCCC"/>
                </a:solidFill>
                <a:latin typeface="Pretendard Regular" pitchFamily="34" charset="0"/>
                <a:ea typeface="Pretendard Regular" pitchFamily="34" charset="-122"/>
                <a:cs typeface="Pretendard Regular" pitchFamily="34" charset="-120"/>
              </a:rPr>
              <a:t>GPT-5.5</a:t>
            </a:r>
            <a:endParaRPr lang="en-US" sz="1300" dirty="0"/>
          </a:p>
        </p:txBody>
      </p:sp>
      <p:sp>
        <p:nvSpPr>
          <p:cNvPr id="51" name="Shape 49"/>
          <p:cNvSpPr/>
          <p:nvPr/>
        </p:nvSpPr>
        <p:spPr>
          <a:xfrm>
            <a:off x="2834640" y="3401568"/>
            <a:ext cx="1389888" cy="658368"/>
          </a:xfrm>
          <a:prstGeom prst="rect">
            <a:avLst/>
          </a:prstGeom>
          <a:solidFill>
            <a:srgbClr val="2A2A2C"/>
          </a:solidFill>
          <a:ln w="12700">
            <a:solidFill>
              <a:srgbClr val="3A3A3C"/>
            </a:solidFill>
            <a:prstDash val="solid"/>
          </a:ln>
        </p:spPr>
      </p:sp>
      <p:sp>
        <p:nvSpPr>
          <p:cNvPr id="52" name="Text 50"/>
          <p:cNvSpPr/>
          <p:nvPr/>
        </p:nvSpPr>
        <p:spPr>
          <a:xfrm>
            <a:off x="2871216" y="3401568"/>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0</a:t>
            </a:r>
            <a:endParaRPr lang="en-US" sz="1200" dirty="0"/>
          </a:p>
        </p:txBody>
      </p:sp>
      <p:sp>
        <p:nvSpPr>
          <p:cNvPr id="53" name="Shape 51"/>
          <p:cNvSpPr/>
          <p:nvPr/>
        </p:nvSpPr>
        <p:spPr>
          <a:xfrm>
            <a:off x="4224528" y="3401568"/>
            <a:ext cx="1389888" cy="658368"/>
          </a:xfrm>
          <a:prstGeom prst="rect">
            <a:avLst/>
          </a:prstGeom>
          <a:solidFill>
            <a:srgbClr val="2A2A2C"/>
          </a:solidFill>
          <a:ln w="12700">
            <a:solidFill>
              <a:srgbClr val="3A3A3C"/>
            </a:solidFill>
            <a:prstDash val="solid"/>
          </a:ln>
        </p:spPr>
      </p:sp>
      <p:sp>
        <p:nvSpPr>
          <p:cNvPr id="54" name="Text 52"/>
          <p:cNvSpPr/>
          <p:nvPr/>
        </p:nvSpPr>
        <p:spPr>
          <a:xfrm>
            <a:off x="4261104" y="3401568"/>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0</a:t>
            </a:r>
            <a:endParaRPr lang="en-US" sz="1200" dirty="0"/>
          </a:p>
        </p:txBody>
      </p:sp>
      <p:sp>
        <p:nvSpPr>
          <p:cNvPr id="55" name="Shape 53"/>
          <p:cNvSpPr/>
          <p:nvPr/>
        </p:nvSpPr>
        <p:spPr>
          <a:xfrm>
            <a:off x="5614416" y="3401568"/>
            <a:ext cx="1389888" cy="658368"/>
          </a:xfrm>
          <a:prstGeom prst="rect">
            <a:avLst/>
          </a:prstGeom>
          <a:solidFill>
            <a:srgbClr val="2A2A2C"/>
          </a:solidFill>
          <a:ln w="12700">
            <a:solidFill>
              <a:srgbClr val="3A3A3C"/>
            </a:solidFill>
            <a:prstDash val="solid"/>
          </a:ln>
        </p:spPr>
      </p:sp>
      <p:sp>
        <p:nvSpPr>
          <p:cNvPr id="56" name="Text 54"/>
          <p:cNvSpPr/>
          <p:nvPr/>
        </p:nvSpPr>
        <p:spPr>
          <a:xfrm>
            <a:off x="5650992" y="3401568"/>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2  (0.4)</a:t>
            </a:r>
            <a:endParaRPr lang="en-US" sz="1200" dirty="0"/>
          </a:p>
        </p:txBody>
      </p:sp>
      <p:sp>
        <p:nvSpPr>
          <p:cNvPr id="57" name="Shape 55"/>
          <p:cNvSpPr/>
          <p:nvPr/>
        </p:nvSpPr>
        <p:spPr>
          <a:xfrm>
            <a:off x="7004304" y="3401568"/>
            <a:ext cx="1389888" cy="658368"/>
          </a:xfrm>
          <a:prstGeom prst="rect">
            <a:avLst/>
          </a:prstGeom>
          <a:solidFill>
            <a:srgbClr val="2A2A2C"/>
          </a:solidFill>
          <a:ln w="12700">
            <a:solidFill>
              <a:srgbClr val="3A3A3C"/>
            </a:solidFill>
            <a:prstDash val="solid"/>
          </a:ln>
        </p:spPr>
      </p:sp>
      <p:sp>
        <p:nvSpPr>
          <p:cNvPr id="58" name="Text 56"/>
          <p:cNvSpPr/>
          <p:nvPr/>
        </p:nvSpPr>
        <p:spPr>
          <a:xfrm>
            <a:off x="7040880" y="3401568"/>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2  (0.2)</a:t>
            </a:r>
            <a:endParaRPr lang="en-US" sz="1200" dirty="0"/>
          </a:p>
        </p:txBody>
      </p:sp>
      <p:sp>
        <p:nvSpPr>
          <p:cNvPr id="59" name="Shape 57"/>
          <p:cNvSpPr/>
          <p:nvPr/>
        </p:nvSpPr>
        <p:spPr>
          <a:xfrm>
            <a:off x="8394192" y="3401568"/>
            <a:ext cx="1389888" cy="658368"/>
          </a:xfrm>
          <a:prstGeom prst="rect">
            <a:avLst/>
          </a:prstGeom>
          <a:solidFill>
            <a:srgbClr val="2A2A2C"/>
          </a:solidFill>
          <a:ln w="12700">
            <a:solidFill>
              <a:srgbClr val="3A3A3C"/>
            </a:solidFill>
            <a:prstDash val="solid"/>
          </a:ln>
        </p:spPr>
      </p:sp>
      <p:sp>
        <p:nvSpPr>
          <p:cNvPr id="60" name="Text 58"/>
          <p:cNvSpPr/>
          <p:nvPr/>
        </p:nvSpPr>
        <p:spPr>
          <a:xfrm>
            <a:off x="8430768" y="3401568"/>
            <a:ext cx="1316736" cy="658368"/>
          </a:xfrm>
          <a:prstGeom prst="rect">
            <a:avLst/>
          </a:prstGeom>
          <a:noFill/>
          <a:ln/>
        </p:spPr>
        <p:txBody>
          <a:bodyPr wrap="square" lIns="0" tIns="0" rIns="0" bIns="0" rtlCol="0" anchor="ctr"/>
          <a:lstStyle/>
          <a:p>
            <a:pPr algn="ctr" indent="0" marL="0">
              <a:buNone/>
            </a:pPr>
            <a:r>
              <a:rPr lang="en-US" sz="1200" dirty="0">
                <a:solidFill>
                  <a:srgbClr val="CCCCCC"/>
                </a:solidFill>
                <a:latin typeface="Pretendard Regular" pitchFamily="34" charset="0"/>
                <a:ea typeface="Pretendard Regular" pitchFamily="34" charset="-122"/>
                <a:cs typeface="Pretendard Regular" pitchFamily="34" charset="-120"/>
              </a:rPr>
              <a:t>0</a:t>
            </a:r>
            <a:endParaRPr lang="en-US" sz="1200" dirty="0"/>
          </a:p>
        </p:txBody>
      </p:sp>
      <p:sp>
        <p:nvSpPr>
          <p:cNvPr id="61" name="Shape 59"/>
          <p:cNvSpPr/>
          <p:nvPr/>
        </p:nvSpPr>
        <p:spPr>
          <a:xfrm>
            <a:off x="9784080" y="3401568"/>
            <a:ext cx="1362456" cy="658368"/>
          </a:xfrm>
          <a:prstGeom prst="rect">
            <a:avLst/>
          </a:prstGeom>
          <a:solidFill>
            <a:srgbClr val="2A2A2C"/>
          </a:solidFill>
          <a:ln w="12700">
            <a:solidFill>
              <a:srgbClr val="3A3A3C"/>
            </a:solidFill>
            <a:prstDash val="solid"/>
          </a:ln>
        </p:spPr>
      </p:sp>
      <p:sp>
        <p:nvSpPr>
          <p:cNvPr id="62" name="Text 60"/>
          <p:cNvSpPr/>
          <p:nvPr/>
        </p:nvSpPr>
        <p:spPr>
          <a:xfrm>
            <a:off x="9820656" y="3401568"/>
            <a:ext cx="1289304" cy="658368"/>
          </a:xfrm>
          <a:prstGeom prst="rect">
            <a:avLst/>
          </a:prstGeom>
          <a:noFill/>
          <a:ln/>
        </p:spPr>
        <p:txBody>
          <a:bodyPr wrap="square" lIns="0" tIns="0" rIns="0" bIns="0" rtlCol="0" anchor="ctr"/>
          <a:lstStyle/>
          <a:p>
            <a:pPr algn="ctr" indent="0" marL="0">
              <a:buNone/>
            </a:pPr>
            <a:r>
              <a:rPr lang="en-US" sz="1400" dirty="0">
                <a:solidFill>
                  <a:srgbClr val="FFFFFF"/>
                </a:solidFill>
                <a:latin typeface="Pretendard ExtraBold" pitchFamily="34" charset="0"/>
                <a:ea typeface="Pretendard ExtraBold" pitchFamily="34" charset="-122"/>
                <a:cs typeface="Pretendard ExtraBold" pitchFamily="34" charset="-120"/>
              </a:rPr>
              <a:t>0.6</a:t>
            </a:r>
            <a:endParaRPr lang="en-US" sz="1400" dirty="0"/>
          </a:p>
        </p:txBody>
      </p:sp>
      <p:sp>
        <p:nvSpPr>
          <p:cNvPr id="63" name="Text 61"/>
          <p:cNvSpPr/>
          <p:nvPr/>
        </p:nvSpPr>
        <p:spPr>
          <a:xfrm>
            <a:off x="502920" y="4261104"/>
            <a:ext cx="11183112" cy="384048"/>
          </a:xfrm>
          <a:prstGeom prst="rect">
            <a:avLst/>
          </a:prstGeom>
          <a:noFill/>
          <a:ln/>
        </p:spPr>
        <p:txBody>
          <a:bodyPr wrap="square" lIns="0" tIns="0" rIns="0" bIns="0" rtlCol="0" anchor="ctr"/>
          <a:lstStyle/>
          <a:p>
            <a:pPr algn="l" indent="0" marL="0">
              <a:buNone/>
            </a:pPr>
            <a:r>
              <a:rPr lang="en-US" sz="1300" dirty="0">
                <a:solidFill>
                  <a:srgbClr val="2997FF"/>
                </a:solidFill>
                <a:latin typeface="Pretendard SemiBold" pitchFamily="34" charset="0"/>
                <a:ea typeface="Pretendard SemiBold" pitchFamily="34" charset="-122"/>
                <a:cs typeface="Pretendard SemiBold" pitchFamily="34" charset="-120"/>
              </a:rPr>
              <a:t>🏆  최종 선정: Gemini 3.1 Pro  —  총점 1.7점  (2위 Claude 0.7p · 3위 GPT 0.6p)</a:t>
            </a:r>
            <a:endParaRPr lang="en-US" sz="1300" dirty="0"/>
          </a:p>
        </p:txBody>
      </p:sp>
      <p:sp>
        <p:nvSpPr>
          <p:cNvPr id="64" name="Shape 62"/>
          <p:cNvSpPr/>
          <p:nvPr/>
        </p:nvSpPr>
        <p:spPr>
          <a:xfrm>
            <a:off x="502920" y="4791456"/>
            <a:ext cx="2468880" cy="347472"/>
          </a:xfrm>
          <a:prstGeom prst="roundRect">
            <a:avLst>
              <a:gd name="adj" fmla="val 65789"/>
            </a:avLst>
          </a:prstGeom>
          <a:solidFill>
            <a:srgbClr val="152244"/>
          </a:solidFill>
          <a:ln w="12700">
            <a:solidFill>
              <a:srgbClr val="2997FF"/>
            </a:solidFill>
            <a:prstDash val="solid"/>
          </a:ln>
        </p:spPr>
      </p:sp>
      <p:sp>
        <p:nvSpPr>
          <p:cNvPr id="65" name="Text 63"/>
          <p:cNvSpPr/>
          <p:nvPr/>
        </p:nvSpPr>
        <p:spPr>
          <a:xfrm>
            <a:off x="502920" y="4791456"/>
            <a:ext cx="2468880" cy="347472"/>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표현력 1위  0.6 / 0.6</a:t>
            </a:r>
            <a:endParaRPr lang="en-US" sz="1100" dirty="0"/>
          </a:p>
        </p:txBody>
      </p:sp>
      <p:sp>
        <p:nvSpPr>
          <p:cNvPr id="66" name="Shape 64"/>
          <p:cNvSpPr/>
          <p:nvPr/>
        </p:nvSpPr>
        <p:spPr>
          <a:xfrm>
            <a:off x="3246120" y="4791456"/>
            <a:ext cx="2468880" cy="347472"/>
          </a:xfrm>
          <a:prstGeom prst="roundRect">
            <a:avLst>
              <a:gd name="adj" fmla="val 65789"/>
            </a:avLst>
          </a:prstGeom>
          <a:solidFill>
            <a:srgbClr val="152244"/>
          </a:solidFill>
          <a:ln w="12700">
            <a:solidFill>
              <a:srgbClr val="2997FF"/>
            </a:solidFill>
            <a:prstDash val="solid"/>
          </a:ln>
        </p:spPr>
      </p:sp>
      <p:sp>
        <p:nvSpPr>
          <p:cNvPr id="67" name="Text 65"/>
          <p:cNvSpPr/>
          <p:nvPr/>
        </p:nvSpPr>
        <p:spPr>
          <a:xfrm>
            <a:off x="3246120" y="4791456"/>
            <a:ext cx="2468880" cy="347472"/>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적극성 1위  0.4 / 0.4</a:t>
            </a:r>
            <a:endParaRPr lang="en-US" sz="1100" dirty="0"/>
          </a:p>
        </p:txBody>
      </p:sp>
      <p:sp>
        <p:nvSpPr>
          <p:cNvPr id="68" name="Shape 66"/>
          <p:cNvSpPr/>
          <p:nvPr/>
        </p:nvSpPr>
        <p:spPr>
          <a:xfrm>
            <a:off x="5989320" y="4791456"/>
            <a:ext cx="2468880" cy="347472"/>
          </a:xfrm>
          <a:prstGeom prst="roundRect">
            <a:avLst>
              <a:gd name="adj" fmla="val 65789"/>
            </a:avLst>
          </a:prstGeom>
          <a:solidFill>
            <a:srgbClr val="152244"/>
          </a:solidFill>
          <a:ln w="12700">
            <a:solidFill>
              <a:srgbClr val="2997FF"/>
            </a:solidFill>
            <a:prstDash val="solid"/>
          </a:ln>
        </p:spPr>
      </p:sp>
      <p:sp>
        <p:nvSpPr>
          <p:cNvPr id="69" name="Text 67"/>
          <p:cNvSpPr/>
          <p:nvPr/>
        </p:nvSpPr>
        <p:spPr>
          <a:xfrm>
            <a:off x="5989320" y="4791456"/>
            <a:ext cx="2468880" cy="347472"/>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형식 준수 1위  0.4 / 0.4</a:t>
            </a:r>
            <a:endParaRPr lang="en-US" sz="1100" dirty="0"/>
          </a:p>
        </p:txBody>
      </p:sp>
      <p:sp>
        <p:nvSpPr>
          <p:cNvPr id="70" name="Shape 68"/>
          <p:cNvSpPr/>
          <p:nvPr/>
        </p:nvSpPr>
        <p:spPr>
          <a:xfrm>
            <a:off x="502920" y="5294376"/>
            <a:ext cx="3456432" cy="804672"/>
          </a:xfrm>
          <a:prstGeom prst="rect">
            <a:avLst/>
          </a:prstGeom>
          <a:solidFill>
            <a:srgbClr val="1E1E20"/>
          </a:solidFill>
          <a:ln w="12700">
            <a:solidFill>
              <a:srgbClr val="3A3A3C"/>
            </a:solidFill>
            <a:prstDash val="solid"/>
          </a:ln>
        </p:spPr>
      </p:sp>
      <p:sp>
        <p:nvSpPr>
          <p:cNvPr id="71" name="Text 69"/>
          <p:cNvSpPr/>
          <p:nvPr/>
        </p:nvSpPr>
        <p:spPr>
          <a:xfrm>
            <a:off x="667512" y="5367528"/>
            <a:ext cx="3127248" cy="237744"/>
          </a:xfrm>
          <a:prstGeom prst="rect">
            <a:avLst/>
          </a:prstGeom>
          <a:noFill/>
          <a:ln/>
        </p:spPr>
        <p:txBody>
          <a:bodyPr wrap="square" lIns="0" tIns="0" rIns="0" bIns="0" rtlCol="0" anchor="ctr"/>
          <a:lstStyle/>
          <a:p>
            <a:pPr algn="l" indent="0" marL="0">
              <a:buNone/>
            </a:pPr>
            <a:r>
              <a:rPr lang="en-US" sz="1100" dirty="0">
                <a:solidFill>
                  <a:srgbClr val="2997FF"/>
                </a:solidFill>
                <a:latin typeface="Pretendard SemiBold" pitchFamily="34" charset="0"/>
                <a:ea typeface="Pretendard SemiBold" pitchFamily="34" charset="-122"/>
                <a:cs typeface="Pretendard SemiBold" pitchFamily="34" charset="-120"/>
              </a:rPr>
              <a:t>Gemini vs Claude</a:t>
            </a:r>
            <a:endParaRPr lang="en-US" sz="1100" dirty="0"/>
          </a:p>
        </p:txBody>
      </p:sp>
      <p:sp>
        <p:nvSpPr>
          <p:cNvPr id="72" name="Text 70"/>
          <p:cNvSpPr/>
          <p:nvPr/>
        </p:nvSpPr>
        <p:spPr>
          <a:xfrm>
            <a:off x="667512" y="5623560"/>
            <a:ext cx="3127248" cy="402336"/>
          </a:xfrm>
          <a:prstGeom prst="rect">
            <a:avLst/>
          </a:prstGeom>
          <a:noFill/>
          <a:ln/>
        </p:spPr>
        <p:txBody>
          <a:bodyPr wrap="square" lIns="0" tIns="0" rIns="0" bIns="0" rtlCol="0" anchor="ctr"/>
          <a:lstStyle/>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표현력 +0.3 · 적극성 +0.2</a:t>
            </a:r>
            <a:endParaRPr lang="en-US" sz="1100" dirty="0"/>
          </a:p>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총점 차이 1.0점</a:t>
            </a:r>
            <a:endParaRPr lang="en-US" sz="1100" dirty="0"/>
          </a:p>
        </p:txBody>
      </p:sp>
      <p:sp>
        <p:nvSpPr>
          <p:cNvPr id="73" name="Shape 71"/>
          <p:cNvSpPr/>
          <p:nvPr/>
        </p:nvSpPr>
        <p:spPr>
          <a:xfrm>
            <a:off x="4142232" y="5294376"/>
            <a:ext cx="3456432" cy="804672"/>
          </a:xfrm>
          <a:prstGeom prst="rect">
            <a:avLst/>
          </a:prstGeom>
          <a:solidFill>
            <a:srgbClr val="1E1E20"/>
          </a:solidFill>
          <a:ln w="12700">
            <a:solidFill>
              <a:srgbClr val="3A3A3C"/>
            </a:solidFill>
            <a:prstDash val="solid"/>
          </a:ln>
        </p:spPr>
      </p:sp>
      <p:sp>
        <p:nvSpPr>
          <p:cNvPr id="74" name="Text 72"/>
          <p:cNvSpPr/>
          <p:nvPr/>
        </p:nvSpPr>
        <p:spPr>
          <a:xfrm>
            <a:off x="4306824" y="5367528"/>
            <a:ext cx="3127248" cy="237744"/>
          </a:xfrm>
          <a:prstGeom prst="rect">
            <a:avLst/>
          </a:prstGeom>
          <a:noFill/>
          <a:ln/>
        </p:spPr>
        <p:txBody>
          <a:bodyPr wrap="square" lIns="0" tIns="0" rIns="0" bIns="0" rtlCol="0" anchor="ctr"/>
          <a:lstStyle/>
          <a:p>
            <a:pPr algn="l" indent="0" marL="0">
              <a:buNone/>
            </a:pPr>
            <a:r>
              <a:rPr lang="en-US" sz="1100" dirty="0">
                <a:solidFill>
                  <a:srgbClr val="2997FF"/>
                </a:solidFill>
                <a:latin typeface="Pretendard SemiBold" pitchFamily="34" charset="0"/>
                <a:ea typeface="Pretendard SemiBold" pitchFamily="34" charset="-122"/>
                <a:cs typeface="Pretendard SemiBold" pitchFamily="34" charset="-120"/>
              </a:rPr>
              <a:t>Gemini vs GPT</a:t>
            </a:r>
            <a:endParaRPr lang="en-US" sz="1100" dirty="0"/>
          </a:p>
        </p:txBody>
      </p:sp>
      <p:sp>
        <p:nvSpPr>
          <p:cNvPr id="75" name="Text 73"/>
          <p:cNvSpPr/>
          <p:nvPr/>
        </p:nvSpPr>
        <p:spPr>
          <a:xfrm>
            <a:off x="4306824" y="5623560"/>
            <a:ext cx="3127248" cy="402336"/>
          </a:xfrm>
          <a:prstGeom prst="rect">
            <a:avLst/>
          </a:prstGeom>
          <a:noFill/>
          <a:ln/>
        </p:spPr>
        <p:txBody>
          <a:bodyPr wrap="square" lIns="0" tIns="0" rIns="0" bIns="0" rtlCol="0" anchor="ctr"/>
          <a:lstStyle/>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표현력 +0.6 · 적극성 +0.4</a:t>
            </a:r>
            <a:endParaRPr lang="en-US" sz="1100" dirty="0"/>
          </a:p>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총점 차이 1.1점</a:t>
            </a:r>
            <a:endParaRPr lang="en-US" sz="1100" dirty="0"/>
          </a:p>
        </p:txBody>
      </p:sp>
      <p:sp>
        <p:nvSpPr>
          <p:cNvPr id="76" name="Shape 74"/>
          <p:cNvSpPr/>
          <p:nvPr/>
        </p:nvSpPr>
        <p:spPr>
          <a:xfrm>
            <a:off x="7781544" y="5294376"/>
            <a:ext cx="3456432" cy="804672"/>
          </a:xfrm>
          <a:prstGeom prst="rect">
            <a:avLst/>
          </a:prstGeom>
          <a:solidFill>
            <a:srgbClr val="1E1E20"/>
          </a:solidFill>
          <a:ln w="12700">
            <a:solidFill>
              <a:srgbClr val="3A3A3C"/>
            </a:solidFill>
            <a:prstDash val="solid"/>
          </a:ln>
        </p:spPr>
      </p:sp>
      <p:sp>
        <p:nvSpPr>
          <p:cNvPr id="77" name="Text 75"/>
          <p:cNvSpPr/>
          <p:nvPr/>
        </p:nvSpPr>
        <p:spPr>
          <a:xfrm>
            <a:off x="7946136" y="5367528"/>
            <a:ext cx="3127248" cy="237744"/>
          </a:xfrm>
          <a:prstGeom prst="rect">
            <a:avLst/>
          </a:prstGeom>
          <a:noFill/>
          <a:ln/>
        </p:spPr>
        <p:txBody>
          <a:bodyPr wrap="square" lIns="0" tIns="0" rIns="0" bIns="0" rtlCol="0" anchor="ctr"/>
          <a:lstStyle/>
          <a:p>
            <a:pPr algn="l" indent="0" marL="0">
              <a:buNone/>
            </a:pPr>
            <a:r>
              <a:rPr lang="en-US" sz="1100" dirty="0">
                <a:solidFill>
                  <a:srgbClr val="2997FF"/>
                </a:solidFill>
                <a:latin typeface="Pretendard SemiBold" pitchFamily="34" charset="0"/>
                <a:ea typeface="Pretendard SemiBold" pitchFamily="34" charset="-122"/>
                <a:cs typeface="Pretendard SemiBold" pitchFamily="34" charset="-120"/>
              </a:rPr>
              <a:t>비용 구독 기준</a:t>
            </a:r>
            <a:endParaRPr lang="en-US" sz="1100" dirty="0"/>
          </a:p>
        </p:txBody>
      </p:sp>
      <p:sp>
        <p:nvSpPr>
          <p:cNvPr id="78" name="Text 76"/>
          <p:cNvSpPr/>
          <p:nvPr/>
        </p:nvSpPr>
        <p:spPr>
          <a:xfrm>
            <a:off x="7946136" y="5623560"/>
            <a:ext cx="3127248" cy="402336"/>
          </a:xfrm>
          <a:prstGeom prst="rect">
            <a:avLst/>
          </a:prstGeom>
          <a:noFill/>
          <a:ln/>
        </p:spPr>
        <p:txBody>
          <a:bodyPr wrap="square" lIns="0" tIns="0" rIns="0" bIns="0" rtlCol="0" anchor="ctr"/>
          <a:lstStyle/>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GPT·Claude 대비 Gemini</a:t>
            </a:r>
            <a:endParaRPr lang="en-US" sz="1100" dirty="0"/>
          </a:p>
          <a:p>
            <a:pPr algn="l" indent="0" marL="0">
              <a:lnSpc>
                <a:spcPct val="140000"/>
              </a:lnSpc>
              <a:buNone/>
            </a:pPr>
            <a:r>
              <a:rPr lang="en-US" sz="1100" dirty="0">
                <a:solidFill>
                  <a:srgbClr val="CCCCCC"/>
                </a:solidFill>
                <a:latin typeface="Pretendard Light" pitchFamily="34" charset="0"/>
                <a:ea typeface="Pretendard Light" pitchFamily="34" charset="-122"/>
                <a:cs typeface="Pretendard Light" pitchFamily="34" charset="-120"/>
              </a:rPr>
              <a:t>구독료 가성비 우위</a:t>
            </a:r>
            <a:endParaRPr lang="en-US" sz="1100" dirty="0"/>
          </a:p>
        </p:txBody>
      </p:sp>
      <p:sp>
        <p:nvSpPr>
          <p:cNvPr id="79" name="Shape 77"/>
          <p:cNvSpPr/>
          <p:nvPr/>
        </p:nvSpPr>
        <p:spPr>
          <a:xfrm>
            <a:off x="0" y="6400800"/>
            <a:ext cx="12188952" cy="457200"/>
          </a:xfrm>
          <a:prstGeom prst="rect">
            <a:avLst/>
          </a:prstGeom>
          <a:solidFill>
            <a:srgbClr val="1D1D1F"/>
          </a:solidFill>
          <a:ln w="12700">
            <a:solidFill>
              <a:srgbClr val="1D1D1F"/>
            </a:solidFill>
            <a:prstDash val="solid"/>
          </a:ln>
        </p:spPr>
      </p:sp>
      <p:sp>
        <p:nvSpPr>
          <p:cNvPr id="80" name="Text 78"/>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가중순위결정법 결과: Gemini 3.1 Pro 1.7점  &gt;  Claude Opus 4.8 0.7점  &gt;  GPT-5.5 0.6점</a:t>
            </a:r>
            <a:endParaRPr lang="en-US" sz="1100" dirty="0"/>
          </a:p>
        </p:txBody>
      </p:sp>
      <p:sp>
        <p:nvSpPr>
          <p:cNvPr id="81" name="Text 79"/>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502920" y="164592"/>
            <a:ext cx="9144000" cy="201168"/>
          </a:xfrm>
          <a:prstGeom prst="rect">
            <a:avLst/>
          </a:prstGeom>
          <a:noFill/>
          <a:ln/>
        </p:spPr>
        <p:txBody>
          <a:bodyPr wrap="square" lIns="0" tIns="0" rIns="0" bIns="0" rtlCol="0" anchor="ctr"/>
          <a:lstStyle/>
          <a:p>
            <a:pPr algn="l" indent="0" marL="0">
              <a:buNone/>
            </a:pPr>
            <a:r>
              <a:rPr lang="en-US" sz="1100" dirty="0">
                <a:solidFill>
                  <a:srgbClr val="9CA3AF"/>
                </a:solidFill>
                <a:latin typeface="Pretendard Medium" pitchFamily="34" charset="0"/>
                <a:ea typeface="Pretendard Medium" pitchFamily="34" charset="-122"/>
                <a:cs typeface="Pretendard Medium" pitchFamily="34" charset="-120"/>
              </a:rPr>
              <a:t>V. 결론</a:t>
            </a:r>
            <a:endParaRPr lang="en-US" sz="1100" dirty="0"/>
          </a:p>
        </p:txBody>
      </p:sp>
      <p:sp>
        <p:nvSpPr>
          <p:cNvPr id="3" name="Text 1"/>
          <p:cNvSpPr/>
          <p:nvPr/>
        </p:nvSpPr>
        <p:spPr>
          <a:xfrm>
            <a:off x="502920" y="384048"/>
            <a:ext cx="10515600" cy="594360"/>
          </a:xfrm>
          <a:prstGeom prst="rect">
            <a:avLst/>
          </a:prstGeom>
          <a:noFill/>
          <a:ln/>
        </p:spPr>
        <p:txBody>
          <a:bodyPr wrap="square" lIns="0" tIns="0" rIns="0" bIns="0" rtlCol="0" anchor="ctr"/>
          <a:lstStyle/>
          <a:p>
            <a:pPr algn="l" indent="0" marL="0">
              <a:lnSpc>
                <a:spcPct val="110000"/>
              </a:lnSpc>
              <a:buNone/>
            </a:pPr>
            <a:r>
              <a:rPr lang="en-US" sz="4000" spc="-50" kern="0" dirty="0">
                <a:solidFill>
                  <a:srgbClr val="1D1D1F"/>
                </a:solidFill>
                <a:latin typeface="Pretendard Bold" pitchFamily="34" charset="0"/>
                <a:ea typeface="Pretendard Bold" pitchFamily="34" charset="-122"/>
                <a:cs typeface="Pretendard Bold" pitchFamily="34" charset="-120"/>
              </a:rPr>
              <a:t>최종 선정: Gemini 3.1 Pro</a:t>
            </a:r>
            <a:endParaRPr lang="en-US" sz="4000" dirty="0"/>
          </a:p>
        </p:txBody>
      </p:sp>
      <p:sp>
        <p:nvSpPr>
          <p:cNvPr id="4" name="Text 2"/>
          <p:cNvSpPr/>
          <p:nvPr/>
        </p:nvSpPr>
        <p:spPr>
          <a:xfrm>
            <a:off x="502920" y="1005840"/>
            <a:ext cx="10515600" cy="292608"/>
          </a:xfrm>
          <a:prstGeom prst="rect">
            <a:avLst/>
          </a:prstGeom>
          <a:noFill/>
          <a:ln/>
        </p:spPr>
        <p:txBody>
          <a:bodyPr wrap="square" lIns="0" tIns="0" rIns="0" bIns="0" rtlCol="0" anchor="ctr"/>
          <a:lstStyle/>
          <a:p>
            <a:pPr algn="l" indent="0" marL="0">
              <a:buNone/>
            </a:pPr>
            <a:r>
              <a:rPr lang="en-US" sz="1500" dirty="0">
                <a:solidFill>
                  <a:srgbClr val="6B7280"/>
                </a:solidFill>
                <a:latin typeface="Pretendard Regular" pitchFamily="34" charset="0"/>
                <a:ea typeface="Pretendard Regular" pitchFamily="34" charset="-122"/>
                <a:cs typeface="Pretendard Regular" pitchFamily="34" charset="-120"/>
              </a:rPr>
              <a:t>메일 업무 자동화 최적 모델 — 표현력·적극성 우세, 구독 기준 비용 효율도 유리</a:t>
            </a:r>
            <a:endParaRPr lang="en-US" sz="1500" dirty="0"/>
          </a:p>
        </p:txBody>
      </p:sp>
      <p:sp>
        <p:nvSpPr>
          <p:cNvPr id="5" name="Shape 3"/>
          <p:cNvSpPr/>
          <p:nvPr/>
        </p:nvSpPr>
        <p:spPr>
          <a:xfrm>
            <a:off x="502920" y="1353312"/>
            <a:ext cx="11183112" cy="0"/>
          </a:xfrm>
          <a:prstGeom prst="line">
            <a:avLst/>
          </a:prstGeom>
          <a:noFill/>
          <a:ln w="12700">
            <a:solidFill>
              <a:srgbClr val="E0E0E0"/>
            </a:solidFill>
            <a:prstDash val="solid"/>
          </a:ln>
        </p:spPr>
      </p:sp>
      <p:sp>
        <p:nvSpPr>
          <p:cNvPr id="6" name="Shape 4"/>
          <p:cNvSpPr/>
          <p:nvPr/>
        </p:nvSpPr>
        <p:spPr>
          <a:xfrm>
            <a:off x="502920" y="1536192"/>
            <a:ext cx="3456432" cy="2377440"/>
          </a:xfrm>
          <a:prstGeom prst="rect">
            <a:avLst/>
          </a:prstGeom>
          <a:solidFill>
            <a:srgbClr val="FFFFFF"/>
          </a:solidFill>
          <a:ln w="12700">
            <a:solidFill>
              <a:srgbClr val="E0E0E0"/>
            </a:solidFill>
            <a:prstDash val="solid"/>
          </a:ln>
        </p:spPr>
      </p:sp>
      <p:sp>
        <p:nvSpPr>
          <p:cNvPr id="7" name="Shape 5"/>
          <p:cNvSpPr/>
          <p:nvPr/>
        </p:nvSpPr>
        <p:spPr>
          <a:xfrm>
            <a:off x="502920" y="1536192"/>
            <a:ext cx="3456432" cy="54864"/>
          </a:xfrm>
          <a:prstGeom prst="rect">
            <a:avLst/>
          </a:prstGeom>
          <a:solidFill>
            <a:srgbClr val="4285F4"/>
          </a:solidFill>
          <a:ln w="12700">
            <a:solidFill>
              <a:srgbClr val="4285F4"/>
            </a:solidFill>
            <a:prstDash val="solid"/>
          </a:ln>
        </p:spPr>
      </p:sp>
      <p:sp>
        <p:nvSpPr>
          <p:cNvPr id="8" name="Text 6"/>
          <p:cNvSpPr/>
          <p:nvPr/>
        </p:nvSpPr>
        <p:spPr>
          <a:xfrm>
            <a:off x="704088" y="1664208"/>
            <a:ext cx="530352" cy="438912"/>
          </a:xfrm>
          <a:prstGeom prst="rect">
            <a:avLst/>
          </a:prstGeom>
          <a:noFill/>
          <a:ln/>
        </p:spPr>
        <p:txBody>
          <a:bodyPr wrap="square" lIns="0" tIns="0" rIns="0" bIns="0" rtlCol="0" anchor="ctr"/>
          <a:lstStyle/>
          <a:p>
            <a:pPr algn="l" indent="0" marL="0">
              <a:buNone/>
            </a:pPr>
            <a:r>
              <a:rPr lang="en-US" sz="3000" dirty="0">
                <a:solidFill>
                  <a:srgbClr val="E0E0E0"/>
                </a:solidFill>
                <a:latin typeface="Pretendard ExtraBold" pitchFamily="34" charset="0"/>
                <a:ea typeface="Pretendard ExtraBold" pitchFamily="34" charset="-122"/>
                <a:cs typeface="Pretendard ExtraBold" pitchFamily="34" charset="-120"/>
              </a:rPr>
              <a:t>01</a:t>
            </a:r>
            <a:endParaRPr lang="en-US" sz="3000" dirty="0"/>
          </a:p>
        </p:txBody>
      </p:sp>
      <p:sp>
        <p:nvSpPr>
          <p:cNvPr id="9" name="Text 7"/>
          <p:cNvSpPr/>
          <p:nvPr/>
        </p:nvSpPr>
        <p:spPr>
          <a:xfrm>
            <a:off x="704088" y="2157984"/>
            <a:ext cx="3054096" cy="292608"/>
          </a:xfrm>
          <a:prstGeom prst="rect">
            <a:avLst/>
          </a:prstGeom>
          <a:noFill/>
          <a:ln/>
        </p:spPr>
        <p:txBody>
          <a:bodyPr wrap="square" lIns="0" tIns="0" rIns="0" bIns="0" rtlCol="0" anchor="ctr"/>
          <a:lstStyle/>
          <a:p>
            <a:pPr algn="l" indent="0" marL="0">
              <a:buNone/>
            </a:pPr>
            <a:r>
              <a:rPr lang="en-US" sz="1500" dirty="0">
                <a:solidFill>
                  <a:srgbClr val="1D1D1F"/>
                </a:solidFill>
                <a:latin typeface="Pretendard Bold" pitchFamily="34" charset="0"/>
                <a:ea typeface="Pretendard Bold" pitchFamily="34" charset="-122"/>
                <a:cs typeface="Pretendard Bold" pitchFamily="34" charset="-120"/>
              </a:rPr>
              <a:t>표현력 · 적극성</a:t>
            </a:r>
            <a:endParaRPr lang="en-US" sz="1500" dirty="0"/>
          </a:p>
        </p:txBody>
      </p:sp>
      <p:sp>
        <p:nvSpPr>
          <p:cNvPr id="10" name="Shape 8"/>
          <p:cNvSpPr/>
          <p:nvPr/>
        </p:nvSpPr>
        <p:spPr>
          <a:xfrm>
            <a:off x="704088" y="2523744"/>
            <a:ext cx="3054096" cy="0"/>
          </a:xfrm>
          <a:prstGeom prst="line">
            <a:avLst/>
          </a:prstGeom>
          <a:noFill/>
          <a:ln w="12700">
            <a:solidFill>
              <a:srgbClr val="E0E0E0"/>
            </a:solidFill>
            <a:prstDash val="solid"/>
          </a:ln>
        </p:spPr>
      </p:sp>
      <p:sp>
        <p:nvSpPr>
          <p:cNvPr id="11" name="Text 9"/>
          <p:cNvSpPr/>
          <p:nvPr/>
        </p:nvSpPr>
        <p:spPr>
          <a:xfrm>
            <a:off x="704088" y="2633472"/>
            <a:ext cx="3054096" cy="1152144"/>
          </a:xfrm>
          <a:prstGeom prst="rect">
            <a:avLst/>
          </a:prstGeom>
          <a:noFill/>
          <a:ln/>
        </p:spPr>
        <p:txBody>
          <a:bodyPr wrap="square" lIns="0" tIns="0" rIns="0" bIns="0" rtlCol="0" anchor="ctr"/>
          <a:lstStyle/>
          <a:p>
            <a:pPr algn="l" indent="0" marL="0">
              <a:lnSpc>
                <a:spcPct val="155000"/>
              </a:lnSpc>
              <a:buNone/>
            </a:pPr>
            <a:r>
              <a:rPr lang="en-US" sz="1200" dirty="0">
                <a:solidFill>
                  <a:srgbClr val="6B7280"/>
                </a:solidFill>
                <a:latin typeface="Pretendard Regular" pitchFamily="34" charset="0"/>
                <a:ea typeface="Pretendard Regular" pitchFamily="34" charset="-122"/>
                <a:cs typeface="Pretendard Regular" pitchFamily="34" charset="-120"/>
              </a:rPr>
              <a:t>교수-학생 관계의 특성을 정확히 파악하여 최대한 공손하게 상황을 서술하였으며, 사용자에게 추가 정보를 요청하는 적극적인 모습으로 더 완성도 높은 결과물 제공</a:t>
            </a:r>
            <a:endParaRPr lang="en-US" sz="1200" dirty="0"/>
          </a:p>
        </p:txBody>
      </p:sp>
      <p:sp>
        <p:nvSpPr>
          <p:cNvPr id="12" name="Shape 10"/>
          <p:cNvSpPr/>
          <p:nvPr/>
        </p:nvSpPr>
        <p:spPr>
          <a:xfrm>
            <a:off x="4142232" y="1536192"/>
            <a:ext cx="3456432" cy="2377440"/>
          </a:xfrm>
          <a:prstGeom prst="rect">
            <a:avLst/>
          </a:prstGeom>
          <a:solidFill>
            <a:srgbClr val="FFFFFF"/>
          </a:solidFill>
          <a:ln w="12700">
            <a:solidFill>
              <a:srgbClr val="E0E0E0"/>
            </a:solidFill>
            <a:prstDash val="solid"/>
          </a:ln>
        </p:spPr>
      </p:sp>
      <p:sp>
        <p:nvSpPr>
          <p:cNvPr id="13" name="Shape 11"/>
          <p:cNvSpPr/>
          <p:nvPr/>
        </p:nvSpPr>
        <p:spPr>
          <a:xfrm>
            <a:off x="4142232" y="1536192"/>
            <a:ext cx="3456432" cy="54864"/>
          </a:xfrm>
          <a:prstGeom prst="rect">
            <a:avLst/>
          </a:prstGeom>
          <a:solidFill>
            <a:srgbClr val="0066CC"/>
          </a:solidFill>
          <a:ln w="12700">
            <a:solidFill>
              <a:srgbClr val="0066CC"/>
            </a:solidFill>
            <a:prstDash val="solid"/>
          </a:ln>
        </p:spPr>
      </p:sp>
      <p:sp>
        <p:nvSpPr>
          <p:cNvPr id="14" name="Text 12"/>
          <p:cNvSpPr/>
          <p:nvPr/>
        </p:nvSpPr>
        <p:spPr>
          <a:xfrm>
            <a:off x="4343400" y="1664208"/>
            <a:ext cx="530352" cy="438912"/>
          </a:xfrm>
          <a:prstGeom prst="rect">
            <a:avLst/>
          </a:prstGeom>
          <a:noFill/>
          <a:ln/>
        </p:spPr>
        <p:txBody>
          <a:bodyPr wrap="square" lIns="0" tIns="0" rIns="0" bIns="0" rtlCol="0" anchor="ctr"/>
          <a:lstStyle/>
          <a:p>
            <a:pPr algn="l" indent="0" marL="0">
              <a:buNone/>
            </a:pPr>
            <a:r>
              <a:rPr lang="en-US" sz="3000" dirty="0">
                <a:solidFill>
                  <a:srgbClr val="E0E0E0"/>
                </a:solidFill>
                <a:latin typeface="Pretendard ExtraBold" pitchFamily="34" charset="0"/>
                <a:ea typeface="Pretendard ExtraBold" pitchFamily="34" charset="-122"/>
                <a:cs typeface="Pretendard ExtraBold" pitchFamily="34" charset="-120"/>
              </a:rPr>
              <a:t>02</a:t>
            </a:r>
            <a:endParaRPr lang="en-US" sz="3000" dirty="0"/>
          </a:p>
        </p:txBody>
      </p:sp>
      <p:sp>
        <p:nvSpPr>
          <p:cNvPr id="15" name="Text 13"/>
          <p:cNvSpPr/>
          <p:nvPr/>
        </p:nvSpPr>
        <p:spPr>
          <a:xfrm>
            <a:off x="4343400" y="2157984"/>
            <a:ext cx="3054096" cy="292608"/>
          </a:xfrm>
          <a:prstGeom prst="rect">
            <a:avLst/>
          </a:prstGeom>
          <a:noFill/>
          <a:ln/>
        </p:spPr>
        <p:txBody>
          <a:bodyPr wrap="square" lIns="0" tIns="0" rIns="0" bIns="0" rtlCol="0" anchor="ctr"/>
          <a:lstStyle/>
          <a:p>
            <a:pPr algn="l" indent="0" marL="0">
              <a:buNone/>
            </a:pPr>
            <a:r>
              <a:rPr lang="en-US" sz="1500" dirty="0">
                <a:solidFill>
                  <a:srgbClr val="1D1D1F"/>
                </a:solidFill>
                <a:latin typeface="Pretendard Bold" pitchFamily="34" charset="0"/>
                <a:ea typeface="Pretendard Bold" pitchFamily="34" charset="-122"/>
                <a:cs typeface="Pretendard Bold" pitchFamily="34" charset="-120"/>
              </a:rPr>
              <a:t>비용 효율</a:t>
            </a:r>
            <a:endParaRPr lang="en-US" sz="1500" dirty="0"/>
          </a:p>
        </p:txBody>
      </p:sp>
      <p:sp>
        <p:nvSpPr>
          <p:cNvPr id="16" name="Shape 14"/>
          <p:cNvSpPr/>
          <p:nvPr/>
        </p:nvSpPr>
        <p:spPr>
          <a:xfrm>
            <a:off x="4343400" y="2523744"/>
            <a:ext cx="3054096" cy="0"/>
          </a:xfrm>
          <a:prstGeom prst="line">
            <a:avLst/>
          </a:prstGeom>
          <a:noFill/>
          <a:ln w="12700">
            <a:solidFill>
              <a:srgbClr val="E0E0E0"/>
            </a:solidFill>
            <a:prstDash val="solid"/>
          </a:ln>
        </p:spPr>
      </p:sp>
      <p:sp>
        <p:nvSpPr>
          <p:cNvPr id="17" name="Text 15"/>
          <p:cNvSpPr/>
          <p:nvPr/>
        </p:nvSpPr>
        <p:spPr>
          <a:xfrm>
            <a:off x="4343400" y="2633472"/>
            <a:ext cx="3054096" cy="1152144"/>
          </a:xfrm>
          <a:prstGeom prst="rect">
            <a:avLst/>
          </a:prstGeom>
          <a:noFill/>
          <a:ln/>
        </p:spPr>
        <p:txBody>
          <a:bodyPr wrap="square" lIns="0" tIns="0" rIns="0" bIns="0" rtlCol="0" anchor="ctr"/>
          <a:lstStyle/>
          <a:p>
            <a:pPr algn="l" indent="0" marL="0">
              <a:lnSpc>
                <a:spcPct val="155000"/>
              </a:lnSpc>
              <a:buNone/>
            </a:pPr>
            <a:r>
              <a:rPr lang="en-US" sz="1200" dirty="0">
                <a:solidFill>
                  <a:srgbClr val="6B7280"/>
                </a:solidFill>
                <a:latin typeface="Pretendard Regular" pitchFamily="34" charset="0"/>
                <a:ea typeface="Pretendard Regular" pitchFamily="34" charset="-122"/>
                <a:cs typeface="Pretendard Regular" pitchFamily="34" charset="-120"/>
              </a:rPr>
              <a:t>API 토큰 기준으로는 GPT가 더 저렴하나, 일반 사용자 구독료 기준으로 비교했을 때 Gemini의 가성비가 나머지 두 모델 대비 우수하여 실무 도입 비용 측면에서 유리</a:t>
            </a:r>
            <a:endParaRPr lang="en-US" sz="1200" dirty="0"/>
          </a:p>
        </p:txBody>
      </p:sp>
      <p:sp>
        <p:nvSpPr>
          <p:cNvPr id="18" name="Shape 16"/>
          <p:cNvSpPr/>
          <p:nvPr/>
        </p:nvSpPr>
        <p:spPr>
          <a:xfrm>
            <a:off x="7781544" y="1536192"/>
            <a:ext cx="3456432" cy="2377440"/>
          </a:xfrm>
          <a:prstGeom prst="rect">
            <a:avLst/>
          </a:prstGeom>
          <a:solidFill>
            <a:srgbClr val="FFFFFF"/>
          </a:solidFill>
          <a:ln w="12700">
            <a:solidFill>
              <a:srgbClr val="E0E0E0"/>
            </a:solidFill>
            <a:prstDash val="solid"/>
          </a:ln>
        </p:spPr>
      </p:sp>
      <p:sp>
        <p:nvSpPr>
          <p:cNvPr id="19" name="Shape 17"/>
          <p:cNvSpPr/>
          <p:nvPr/>
        </p:nvSpPr>
        <p:spPr>
          <a:xfrm>
            <a:off x="7781544" y="1536192"/>
            <a:ext cx="3456432" cy="54864"/>
          </a:xfrm>
          <a:prstGeom prst="rect">
            <a:avLst/>
          </a:prstGeom>
          <a:solidFill>
            <a:srgbClr val="10A37F"/>
          </a:solidFill>
          <a:ln w="12700">
            <a:solidFill>
              <a:srgbClr val="10A37F"/>
            </a:solidFill>
            <a:prstDash val="solid"/>
          </a:ln>
        </p:spPr>
      </p:sp>
      <p:sp>
        <p:nvSpPr>
          <p:cNvPr id="20" name="Text 18"/>
          <p:cNvSpPr/>
          <p:nvPr/>
        </p:nvSpPr>
        <p:spPr>
          <a:xfrm>
            <a:off x="7982712" y="1664208"/>
            <a:ext cx="530352" cy="438912"/>
          </a:xfrm>
          <a:prstGeom prst="rect">
            <a:avLst/>
          </a:prstGeom>
          <a:noFill/>
          <a:ln/>
        </p:spPr>
        <p:txBody>
          <a:bodyPr wrap="square" lIns="0" tIns="0" rIns="0" bIns="0" rtlCol="0" anchor="ctr"/>
          <a:lstStyle/>
          <a:p>
            <a:pPr algn="l" indent="0" marL="0">
              <a:buNone/>
            </a:pPr>
            <a:r>
              <a:rPr lang="en-US" sz="3000" dirty="0">
                <a:solidFill>
                  <a:srgbClr val="E0E0E0"/>
                </a:solidFill>
                <a:latin typeface="Pretendard ExtraBold" pitchFamily="34" charset="0"/>
                <a:ea typeface="Pretendard ExtraBold" pitchFamily="34" charset="-122"/>
                <a:cs typeface="Pretendard ExtraBold" pitchFamily="34" charset="-120"/>
              </a:rPr>
              <a:t>03</a:t>
            </a:r>
            <a:endParaRPr lang="en-US" sz="3000" dirty="0"/>
          </a:p>
        </p:txBody>
      </p:sp>
      <p:sp>
        <p:nvSpPr>
          <p:cNvPr id="21" name="Text 19"/>
          <p:cNvSpPr/>
          <p:nvPr/>
        </p:nvSpPr>
        <p:spPr>
          <a:xfrm>
            <a:off x="7982712" y="2157984"/>
            <a:ext cx="3054096" cy="292608"/>
          </a:xfrm>
          <a:prstGeom prst="rect">
            <a:avLst/>
          </a:prstGeom>
          <a:noFill/>
          <a:ln/>
        </p:spPr>
        <p:txBody>
          <a:bodyPr wrap="square" lIns="0" tIns="0" rIns="0" bIns="0" rtlCol="0" anchor="ctr"/>
          <a:lstStyle/>
          <a:p>
            <a:pPr algn="l" indent="0" marL="0">
              <a:buNone/>
            </a:pPr>
            <a:r>
              <a:rPr lang="en-US" sz="1500" dirty="0">
                <a:solidFill>
                  <a:srgbClr val="1D1D1F"/>
                </a:solidFill>
                <a:latin typeface="Pretendard Bold" pitchFamily="34" charset="0"/>
                <a:ea typeface="Pretendard Bold" pitchFamily="34" charset="-122"/>
                <a:cs typeface="Pretendard Bold" pitchFamily="34" charset="-120"/>
              </a:rPr>
              <a:t>형식 준수</a:t>
            </a:r>
            <a:endParaRPr lang="en-US" sz="1500" dirty="0"/>
          </a:p>
        </p:txBody>
      </p:sp>
      <p:sp>
        <p:nvSpPr>
          <p:cNvPr id="22" name="Shape 20"/>
          <p:cNvSpPr/>
          <p:nvPr/>
        </p:nvSpPr>
        <p:spPr>
          <a:xfrm>
            <a:off x="7982712" y="2523744"/>
            <a:ext cx="3054096" cy="0"/>
          </a:xfrm>
          <a:prstGeom prst="line">
            <a:avLst/>
          </a:prstGeom>
          <a:noFill/>
          <a:ln w="12700">
            <a:solidFill>
              <a:srgbClr val="E0E0E0"/>
            </a:solidFill>
            <a:prstDash val="solid"/>
          </a:ln>
        </p:spPr>
      </p:sp>
      <p:sp>
        <p:nvSpPr>
          <p:cNvPr id="23" name="Text 21"/>
          <p:cNvSpPr/>
          <p:nvPr/>
        </p:nvSpPr>
        <p:spPr>
          <a:xfrm>
            <a:off x="7982712" y="2633472"/>
            <a:ext cx="3054096" cy="1152144"/>
          </a:xfrm>
          <a:prstGeom prst="rect">
            <a:avLst/>
          </a:prstGeom>
          <a:noFill/>
          <a:ln/>
        </p:spPr>
        <p:txBody>
          <a:bodyPr wrap="square" lIns="0" tIns="0" rIns="0" bIns="0" rtlCol="0" anchor="ctr"/>
          <a:lstStyle/>
          <a:p>
            <a:pPr algn="l" indent="0" marL="0">
              <a:lnSpc>
                <a:spcPct val="155000"/>
              </a:lnSpc>
              <a:buNone/>
            </a:pPr>
            <a:r>
              <a:rPr lang="en-US" sz="1200" dirty="0">
                <a:solidFill>
                  <a:srgbClr val="6B7280"/>
                </a:solidFill>
                <a:latin typeface="Pretendard Regular" pitchFamily="34" charset="0"/>
                <a:ea typeface="Pretendard Regular" pitchFamily="34" charset="-122"/>
                <a:cs typeface="Pretendard Regular" pitchFamily="34" charset="-120"/>
              </a:rPr>
              <a:t>제목 형식, 발신 시간, 경어체 사용 등 주어진 가이드라인을 가장 충실히 이행하였으며, 금지어 회피 및 톤 설정 모두 적절하게 처리</a:t>
            </a:r>
            <a:endParaRPr lang="en-US" sz="1200" dirty="0"/>
          </a:p>
        </p:txBody>
      </p:sp>
      <p:sp>
        <p:nvSpPr>
          <p:cNvPr id="24" name="Shape 22"/>
          <p:cNvSpPr/>
          <p:nvPr/>
        </p:nvSpPr>
        <p:spPr>
          <a:xfrm>
            <a:off x="502920" y="4078224"/>
            <a:ext cx="11183112" cy="1444752"/>
          </a:xfrm>
          <a:prstGeom prst="rect">
            <a:avLst/>
          </a:prstGeom>
          <a:solidFill>
            <a:srgbClr val="1D1D1F"/>
          </a:solidFill>
          <a:ln w="12700">
            <a:solidFill>
              <a:srgbClr val="1D1D1F"/>
            </a:solidFill>
            <a:prstDash val="solid"/>
          </a:ln>
        </p:spPr>
      </p:sp>
      <p:sp>
        <p:nvSpPr>
          <p:cNvPr id="25" name="Text 23"/>
          <p:cNvSpPr/>
          <p:nvPr/>
        </p:nvSpPr>
        <p:spPr>
          <a:xfrm>
            <a:off x="731520" y="4187952"/>
            <a:ext cx="10771632" cy="256032"/>
          </a:xfrm>
          <a:prstGeom prst="rect">
            <a:avLst/>
          </a:prstGeom>
          <a:noFill/>
          <a:ln/>
        </p:spPr>
        <p:txBody>
          <a:bodyPr wrap="square" lIns="0" tIns="0" rIns="0" bIns="0" rtlCol="0" anchor="ctr"/>
          <a:lstStyle/>
          <a:p>
            <a:pPr algn="l" indent="0" marL="0">
              <a:buNone/>
            </a:pPr>
            <a:r>
              <a:rPr lang="en-US" sz="1200" dirty="0">
                <a:solidFill>
                  <a:srgbClr val="2997FF"/>
                </a:solidFill>
                <a:latin typeface="Pretendard SemiBold" pitchFamily="34" charset="0"/>
                <a:ea typeface="Pretendard SemiBold" pitchFamily="34" charset="-122"/>
                <a:cs typeface="Pretendard SemiBold" pitchFamily="34" charset="-120"/>
              </a:rPr>
              <a:t>결론</a:t>
            </a:r>
            <a:endParaRPr lang="en-US" sz="1200" dirty="0"/>
          </a:p>
        </p:txBody>
      </p:sp>
      <p:sp>
        <p:nvSpPr>
          <p:cNvPr id="26" name="Text 24"/>
          <p:cNvSpPr/>
          <p:nvPr/>
        </p:nvSpPr>
        <p:spPr>
          <a:xfrm>
            <a:off x="731520" y="4480560"/>
            <a:ext cx="10771632" cy="914400"/>
          </a:xfrm>
          <a:prstGeom prst="rect">
            <a:avLst/>
          </a:prstGeom>
          <a:noFill/>
          <a:ln/>
        </p:spPr>
        <p:txBody>
          <a:bodyPr wrap="square" lIns="0" tIns="0" rIns="0" bIns="0" rtlCol="0" anchor="ctr"/>
          <a:lstStyle/>
          <a:p>
            <a:pPr algn="l" indent="0" marL="0">
              <a:lnSpc>
                <a:spcPct val="155000"/>
              </a:lnSpc>
              <a:buNone/>
            </a:pPr>
            <a:r>
              <a:rPr lang="en-US" sz="1300" dirty="0">
                <a:solidFill>
                  <a:srgbClr val="FFFFFF"/>
                </a:solidFill>
                <a:latin typeface="Pretendard Regular" pitchFamily="34" charset="0"/>
                <a:ea typeface="Pretendard Regular" pitchFamily="34" charset="-122"/>
                <a:cs typeface="Pretendard Regular" pitchFamily="34" charset="-120"/>
              </a:rPr>
              <a:t>본 테스트를 통해 Gemini 3.1 Pro를 최종 모델로 선정하였습니다. 메일 작업의 특성과 사용자-수신자의 이해관계를 가장 잘 파악하여 메일 업무 자동화에 가장 적절한 모델로 판단하였습니다. 비용 측면에서는 GPT가 API 토큰 기준으로 우세하나, 실 사용자 구독료 기준으로는 Gemini의 가성비가 전반적으로 유리합니다. 가장 결정적인 이유는 표현력과 적극성이 압도적으로 우세하다는 점입니다.</a:t>
            </a:r>
            <a:endParaRPr lang="en-US" sz="1300" dirty="0"/>
          </a:p>
        </p:txBody>
      </p:sp>
      <p:sp>
        <p:nvSpPr>
          <p:cNvPr id="27" name="Shape 25"/>
          <p:cNvSpPr/>
          <p:nvPr/>
        </p:nvSpPr>
        <p:spPr>
          <a:xfrm>
            <a:off x="0" y="6400800"/>
            <a:ext cx="12188952" cy="457200"/>
          </a:xfrm>
          <a:prstGeom prst="rect">
            <a:avLst/>
          </a:prstGeom>
          <a:solidFill>
            <a:srgbClr val="1D1D1F"/>
          </a:solidFill>
          <a:ln w="12700">
            <a:solidFill>
              <a:srgbClr val="1D1D1F"/>
            </a:solidFill>
            <a:prstDash val="solid"/>
          </a:ln>
        </p:spPr>
      </p:sp>
      <p:sp>
        <p:nvSpPr>
          <p:cNvPr id="28" name="Text 26"/>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최종 선정: Gemini 3.1 Pro  —  표현력 0.6 + 적극성 0.4 + 형식 준수 0.4 = 총점 1.7점</a:t>
            </a:r>
            <a:endParaRPr lang="en-US" sz="1100" dirty="0"/>
          </a:p>
        </p:txBody>
      </p:sp>
      <p:sp>
        <p:nvSpPr>
          <p:cNvPr id="29" name="Text 27"/>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22224"/>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97FF"/>
          </a:solidFill>
          <a:ln w="12700">
            <a:solidFill>
              <a:srgbClr val="2997FF"/>
            </a:solidFill>
            <a:prstDash val="solid"/>
          </a:ln>
        </p:spPr>
      </p:sp>
      <p:sp>
        <p:nvSpPr>
          <p:cNvPr id="3" name="Text 1"/>
          <p:cNvSpPr/>
          <p:nvPr/>
        </p:nvSpPr>
        <p:spPr>
          <a:xfrm>
            <a:off x="502920" y="1051560"/>
            <a:ext cx="11183112" cy="347472"/>
          </a:xfrm>
          <a:prstGeom prst="rect">
            <a:avLst/>
          </a:prstGeom>
          <a:noFill/>
          <a:ln/>
        </p:spPr>
        <p:txBody>
          <a:bodyPr wrap="square" lIns="0" tIns="0" rIns="0" bIns="0" rtlCol="0" anchor="ctr"/>
          <a:lstStyle/>
          <a:p>
            <a:pPr algn="ctr" indent="0" marL="0">
              <a:buNone/>
            </a:pPr>
            <a:r>
              <a:rPr lang="en-US" sz="1600" dirty="0">
                <a:solidFill>
                  <a:srgbClr val="9CA3AF"/>
                </a:solidFill>
                <a:latin typeface="Pretendard Light" pitchFamily="34" charset="0"/>
                <a:ea typeface="Pretendard Light" pitchFamily="34" charset="-122"/>
                <a:cs typeface="Pretendard Light" pitchFamily="34" charset="-120"/>
              </a:rPr>
              <a:t>LLM 모델 비교·선정 보고서</a:t>
            </a:r>
            <a:endParaRPr lang="en-US" sz="1600" dirty="0"/>
          </a:p>
        </p:txBody>
      </p:sp>
      <p:sp>
        <p:nvSpPr>
          <p:cNvPr id="4" name="Text 2"/>
          <p:cNvSpPr/>
          <p:nvPr/>
        </p:nvSpPr>
        <p:spPr>
          <a:xfrm>
            <a:off x="502920" y="1554480"/>
            <a:ext cx="11183112" cy="2377440"/>
          </a:xfrm>
          <a:prstGeom prst="rect">
            <a:avLst/>
          </a:prstGeom>
          <a:noFill/>
          <a:ln/>
        </p:spPr>
        <p:txBody>
          <a:bodyPr wrap="square" lIns="0" tIns="0" rIns="0" bIns="0" rtlCol="0" anchor="ctr"/>
          <a:lstStyle/>
          <a:p>
            <a:pPr algn="ctr" indent="0" marL="0">
              <a:lnSpc>
                <a:spcPct val="107000"/>
              </a:lnSpc>
              <a:buNone/>
            </a:pPr>
            <a:r>
              <a:rPr lang="en-US" sz="5800" spc="-80" kern="0" dirty="0">
                <a:solidFill>
                  <a:srgbClr val="FFFFFF"/>
                </a:solidFill>
                <a:latin typeface="Pretendard ExtraBold" pitchFamily="34" charset="0"/>
                <a:ea typeface="Pretendard ExtraBold" pitchFamily="34" charset="-122"/>
                <a:cs typeface="Pretendard ExtraBold" pitchFamily="34" charset="-120"/>
              </a:rPr>
              <a:t>Gemini 3.1 Pro</a:t>
            </a:r>
            <a:endParaRPr lang="en-US" sz="5800" dirty="0"/>
          </a:p>
          <a:p>
            <a:pPr algn="ctr" indent="0" marL="0">
              <a:lnSpc>
                <a:spcPct val="107000"/>
              </a:lnSpc>
              <a:buNone/>
            </a:pPr>
            <a:r>
              <a:rPr lang="en-US" sz="5800" spc="-80" kern="0" dirty="0">
                <a:solidFill>
                  <a:srgbClr val="FFFFFF"/>
                </a:solidFill>
                <a:latin typeface="Pretendard ExtraBold" pitchFamily="34" charset="0"/>
                <a:ea typeface="Pretendard ExtraBold" pitchFamily="34" charset="-122"/>
                <a:cs typeface="Pretendard ExtraBold" pitchFamily="34" charset="-120"/>
              </a:rPr>
              <a:t>최종 선정</a:t>
            </a:r>
            <a:endParaRPr lang="en-US" sz="5800" dirty="0"/>
          </a:p>
        </p:txBody>
      </p:sp>
      <p:sp>
        <p:nvSpPr>
          <p:cNvPr id="5" name="Shape 3"/>
          <p:cNvSpPr/>
          <p:nvPr/>
        </p:nvSpPr>
        <p:spPr>
          <a:xfrm>
            <a:off x="4389120" y="4078224"/>
            <a:ext cx="3410712" cy="0"/>
          </a:xfrm>
          <a:prstGeom prst="line">
            <a:avLst/>
          </a:prstGeom>
          <a:noFill/>
          <a:ln w="25400">
            <a:solidFill>
              <a:srgbClr val="2997FF"/>
            </a:solidFill>
            <a:prstDash val="solid"/>
          </a:ln>
        </p:spPr>
      </p:sp>
      <p:sp>
        <p:nvSpPr>
          <p:cNvPr id="6" name="Text 4"/>
          <p:cNvSpPr/>
          <p:nvPr/>
        </p:nvSpPr>
        <p:spPr>
          <a:xfrm>
            <a:off x="502920" y="4279392"/>
            <a:ext cx="11183112" cy="329184"/>
          </a:xfrm>
          <a:prstGeom prst="rect">
            <a:avLst/>
          </a:prstGeom>
          <a:noFill/>
          <a:ln/>
        </p:spPr>
        <p:txBody>
          <a:bodyPr wrap="square" lIns="0" tIns="0" rIns="0" bIns="0" rtlCol="0" anchor="ctr"/>
          <a:lstStyle/>
          <a:p>
            <a:pPr algn="ctr" indent="0" marL="0">
              <a:buNone/>
            </a:pPr>
            <a:r>
              <a:rPr lang="en-US" sz="1600" dirty="0">
                <a:solidFill>
                  <a:srgbClr val="CCCCCC"/>
                </a:solidFill>
                <a:latin typeface="Pretendard Regular" pitchFamily="34" charset="0"/>
                <a:ea typeface="Pretendard Regular" pitchFamily="34" charset="-122"/>
                <a:cs typeface="Pretendard Regular" pitchFamily="34" charset="-120"/>
              </a:rPr>
              <a:t>표현력 · 적극성 · 비용 효율 종합 평가 1위</a:t>
            </a:r>
            <a:endParaRPr lang="en-US" sz="1600" dirty="0"/>
          </a:p>
        </p:txBody>
      </p:sp>
      <p:sp>
        <p:nvSpPr>
          <p:cNvPr id="7" name="Shape 5"/>
          <p:cNvSpPr/>
          <p:nvPr/>
        </p:nvSpPr>
        <p:spPr>
          <a:xfrm>
            <a:off x="1975104" y="4846320"/>
            <a:ext cx="2514600" cy="365760"/>
          </a:xfrm>
          <a:prstGeom prst="roundRect">
            <a:avLst>
              <a:gd name="adj" fmla="val 62500"/>
            </a:avLst>
          </a:prstGeom>
          <a:solidFill>
            <a:srgbClr val="162040"/>
          </a:solidFill>
          <a:ln w="12700">
            <a:solidFill>
              <a:srgbClr val="2997FF"/>
            </a:solidFill>
            <a:prstDash val="solid"/>
          </a:ln>
        </p:spPr>
      </p:sp>
      <p:sp>
        <p:nvSpPr>
          <p:cNvPr id="8" name="Text 6"/>
          <p:cNvSpPr/>
          <p:nvPr/>
        </p:nvSpPr>
        <p:spPr>
          <a:xfrm>
            <a:off x="1975104" y="4846320"/>
            <a:ext cx="2514600" cy="365760"/>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표현력 최우수</a:t>
            </a:r>
            <a:endParaRPr lang="en-US" sz="1100" dirty="0"/>
          </a:p>
        </p:txBody>
      </p:sp>
      <p:sp>
        <p:nvSpPr>
          <p:cNvPr id="9" name="Shape 7"/>
          <p:cNvSpPr/>
          <p:nvPr/>
        </p:nvSpPr>
        <p:spPr>
          <a:xfrm>
            <a:off x="4837176" y="4846320"/>
            <a:ext cx="2514600" cy="365760"/>
          </a:xfrm>
          <a:prstGeom prst="roundRect">
            <a:avLst>
              <a:gd name="adj" fmla="val 62500"/>
            </a:avLst>
          </a:prstGeom>
          <a:solidFill>
            <a:srgbClr val="162040"/>
          </a:solidFill>
          <a:ln w="12700">
            <a:solidFill>
              <a:srgbClr val="2997FF"/>
            </a:solidFill>
            <a:prstDash val="solid"/>
          </a:ln>
        </p:spPr>
      </p:sp>
      <p:sp>
        <p:nvSpPr>
          <p:cNvPr id="10" name="Text 8"/>
          <p:cNvSpPr/>
          <p:nvPr/>
        </p:nvSpPr>
        <p:spPr>
          <a:xfrm>
            <a:off x="4837176" y="4846320"/>
            <a:ext cx="2514600" cy="365760"/>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적극성 최우수</a:t>
            </a:r>
            <a:endParaRPr lang="en-US" sz="1100" dirty="0"/>
          </a:p>
        </p:txBody>
      </p:sp>
      <p:sp>
        <p:nvSpPr>
          <p:cNvPr id="11" name="Shape 9"/>
          <p:cNvSpPr/>
          <p:nvPr/>
        </p:nvSpPr>
        <p:spPr>
          <a:xfrm>
            <a:off x="7699248" y="4846320"/>
            <a:ext cx="2514600" cy="365760"/>
          </a:xfrm>
          <a:prstGeom prst="roundRect">
            <a:avLst>
              <a:gd name="adj" fmla="val 62500"/>
            </a:avLst>
          </a:prstGeom>
          <a:solidFill>
            <a:srgbClr val="162040"/>
          </a:solidFill>
          <a:ln w="12700">
            <a:solidFill>
              <a:srgbClr val="2997FF"/>
            </a:solidFill>
            <a:prstDash val="solid"/>
          </a:ln>
        </p:spPr>
      </p:sp>
      <p:sp>
        <p:nvSpPr>
          <p:cNvPr id="12" name="Text 10"/>
          <p:cNvSpPr/>
          <p:nvPr/>
        </p:nvSpPr>
        <p:spPr>
          <a:xfrm>
            <a:off x="7699248" y="4846320"/>
            <a:ext cx="2514600" cy="365760"/>
          </a:xfrm>
          <a:prstGeom prst="rect">
            <a:avLst/>
          </a:prstGeom>
          <a:noFill/>
          <a:ln/>
        </p:spPr>
        <p:txBody>
          <a:bodyPr wrap="square" lIns="0" tIns="0" rIns="0" bIns="0" rtlCol="0" anchor="ctr"/>
          <a:lstStyle/>
          <a:p>
            <a:pPr algn="ctr" indent="0" marL="0">
              <a:buNone/>
            </a:pPr>
            <a:r>
              <a:rPr lang="en-US" sz="1100" dirty="0">
                <a:solidFill>
                  <a:srgbClr val="2997FF"/>
                </a:solidFill>
                <a:latin typeface="Pretendard SemiBold" pitchFamily="34" charset="0"/>
                <a:ea typeface="Pretendard SemiBold" pitchFamily="34" charset="-122"/>
                <a:cs typeface="Pretendard SemiBold" pitchFamily="34" charset="-120"/>
              </a:rPr>
              <a:t>구독 기준 비용 효율</a:t>
            </a:r>
            <a:endParaRPr lang="en-US" sz="1100" dirty="0"/>
          </a:p>
        </p:txBody>
      </p:sp>
      <p:sp>
        <p:nvSpPr>
          <p:cNvPr id="13" name="Text 11"/>
          <p:cNvSpPr/>
          <p:nvPr/>
        </p:nvSpPr>
        <p:spPr>
          <a:xfrm>
            <a:off x="502920" y="5577840"/>
            <a:ext cx="11183112" cy="329184"/>
          </a:xfrm>
          <a:prstGeom prst="rect">
            <a:avLst/>
          </a:prstGeom>
          <a:noFill/>
          <a:ln/>
        </p:spPr>
        <p:txBody>
          <a:bodyPr wrap="square" lIns="0" tIns="0" rIns="0" bIns="0" rtlCol="0" anchor="ctr"/>
          <a:lstStyle/>
          <a:p>
            <a:pPr algn="ctr" indent="0" marL="0">
              <a:buNone/>
            </a:pPr>
            <a:r>
              <a:rPr lang="en-US" sz="1200" dirty="0">
                <a:solidFill>
                  <a:srgbClr val="9CA3AF"/>
                </a:solidFill>
                <a:latin typeface="Pretendard Light" pitchFamily="34" charset="0"/>
                <a:ea typeface="Pretendard Light" pitchFamily="34" charset="-122"/>
                <a:cs typeface="Pretendard Light" pitchFamily="34" charset="-120"/>
              </a:rPr>
              <a:t>정세현  ·  코디세이  ·  2026</a:t>
            </a:r>
            <a:endParaRPr lang="en-US" sz="1200" dirty="0"/>
          </a:p>
        </p:txBody>
      </p:sp>
      <p:sp>
        <p:nvSpPr>
          <p:cNvPr id="14" name="Shape 12"/>
          <p:cNvSpPr/>
          <p:nvPr/>
        </p:nvSpPr>
        <p:spPr>
          <a:xfrm>
            <a:off x="0" y="6400800"/>
            <a:ext cx="12188952" cy="457200"/>
          </a:xfrm>
          <a:prstGeom prst="rect">
            <a:avLst/>
          </a:prstGeom>
          <a:solidFill>
            <a:srgbClr val="1D1D1F"/>
          </a:solidFill>
          <a:ln w="12700">
            <a:solidFill>
              <a:srgbClr val="1D1D1F"/>
            </a:solidFill>
            <a:prstDash val="solid"/>
          </a:ln>
        </p:spPr>
      </p:sp>
      <p:sp>
        <p:nvSpPr>
          <p:cNvPr id="15" name="Text 13"/>
          <p:cNvSpPr/>
          <p:nvPr/>
        </p:nvSpPr>
        <p:spPr>
          <a:xfrm>
            <a:off x="457200" y="6400800"/>
            <a:ext cx="10789920" cy="457200"/>
          </a:xfrm>
          <a:prstGeom prst="rect">
            <a:avLst/>
          </a:prstGeom>
          <a:noFill/>
          <a:ln/>
        </p:spPr>
        <p:txBody>
          <a:bodyPr wrap="square" lIns="0" tIns="0" rIns="0" bIns="0" rtlCol="0" anchor="ctr"/>
          <a:lstStyle/>
          <a:p>
            <a:pPr algn="l" indent="0" marL="0">
              <a:buNone/>
            </a:pPr>
            <a:r>
              <a:rPr lang="en-US" sz="1100" dirty="0">
                <a:solidFill>
                  <a:srgbClr val="FFFFFF"/>
                </a:solidFill>
                <a:latin typeface="Pretendard Medium" pitchFamily="34" charset="0"/>
                <a:ea typeface="Pretendard Medium" pitchFamily="34" charset="-122"/>
                <a:cs typeface="Pretendard Medium" pitchFamily="34" charset="-120"/>
              </a:rPr>
              <a:t>코디세이 내부 테스트 보고서  ·  Confidential</a:t>
            </a:r>
            <a:endParaRPr lang="en-US" sz="1100" dirty="0"/>
          </a:p>
        </p:txBody>
      </p:sp>
      <p:sp>
        <p:nvSpPr>
          <p:cNvPr id="16" name="Text 14"/>
          <p:cNvSpPr/>
          <p:nvPr/>
        </p:nvSpPr>
        <p:spPr>
          <a:xfrm>
            <a:off x="11292840" y="6400800"/>
            <a:ext cx="777240" cy="457200"/>
          </a:xfrm>
          <a:prstGeom prst="rect">
            <a:avLst/>
          </a:prstGeom>
          <a:noFill/>
          <a:ln/>
        </p:spPr>
        <p:txBody>
          <a:bodyPr wrap="square" lIns="0" tIns="0" rIns="0" bIns="0" rtlCol="0" anchor="ctr"/>
          <a:lstStyle/>
          <a:p>
            <a:pPr algn="r" indent="0" marL="0">
              <a:buNone/>
            </a:pPr>
            <a:r>
              <a:rPr lang="en-US" sz="1000" dirty="0">
                <a:solidFill>
                  <a:srgbClr val="9CA3AF"/>
                </a:solidFill>
                <a:latin typeface="Pretendard Light" pitchFamily="34" charset="0"/>
                <a:ea typeface="Pretendard Light" pitchFamily="34" charset="-122"/>
                <a:cs typeface="Pretendard Light" pitchFamily="34" charset="-120"/>
              </a:rPr>
              <a:t>09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2026-07-16T08:02:51Z</dcterms:created>
  <dcterms:modified xsi:type="dcterms:W3CDTF">2026-07-16T08:02:51Z</dcterms:modified>
</cp:coreProperties>
</file>